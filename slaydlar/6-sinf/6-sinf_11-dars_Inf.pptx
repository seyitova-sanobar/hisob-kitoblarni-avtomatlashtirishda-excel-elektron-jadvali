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82" r:id="rId1"/>
  </p:sldMasterIdLst>
  <p:notesMasterIdLst>
    <p:notesMasterId r:id="rId20"/>
  </p:notesMasterIdLst>
  <p:sldIdLst>
    <p:sldId id="267" r:id="rId2"/>
    <p:sldId id="256" r:id="rId3"/>
    <p:sldId id="257" r:id="rId4"/>
    <p:sldId id="258" r:id="rId5"/>
    <p:sldId id="269" r:id="rId6"/>
    <p:sldId id="259" r:id="rId7"/>
    <p:sldId id="260" r:id="rId8"/>
    <p:sldId id="261" r:id="rId9"/>
    <p:sldId id="262" r:id="rId10"/>
    <p:sldId id="263" r:id="rId11"/>
    <p:sldId id="264" r:id="rId12"/>
    <p:sldId id="270" r:id="rId13"/>
    <p:sldId id="265" r:id="rId14"/>
    <p:sldId id="271" r:id="rId15"/>
    <p:sldId id="268" r:id="rId16"/>
    <p:sldId id="272" r:id="rId17"/>
    <p:sldId id="273" r:id="rId18"/>
    <p:sldId id="274" r:id="rId19"/>
  </p:sldIdLst>
  <p:sldSz cx="14630400" cy="8229600"/>
  <p:notesSz cx="8229600" cy="14630400"/>
  <p:embeddedFontLst>
    <p:embeddedFont>
      <p:font typeface="Wingdings 2" pitchFamily="18" charset="2"/>
      <p:regular r:id="rId21"/>
    </p:embeddedFont>
    <p:embeddedFont>
      <p:font typeface="Constantia" pitchFamily="18" charset="0"/>
      <p:regular r:id="rId22"/>
      <p:bold r:id="rId23"/>
      <p:italic r:id="rId24"/>
      <p:boldItalic r:id="rId25"/>
    </p:embeddedFont>
    <p:embeddedFont>
      <p:font typeface="NSimSun" pitchFamily="49" charset="-122"/>
      <p:regular r:id="rId26"/>
    </p:embeddedFont>
    <p:embeddedFont>
      <p:font typeface="Roboto Condensed" charset="0"/>
      <p:regular r:id="rId27"/>
    </p:embeddedFont>
    <p:embeddedFont>
      <p:font typeface="Consolas" pitchFamily="49" charset="0"/>
      <p:regular r:id="rId28"/>
      <p:bold r:id="rId29"/>
      <p:italic r:id="rId30"/>
      <p:boldItalic r:id="rId31"/>
    </p:embeddedFont>
    <p:embeddedFont>
      <p:font typeface="Arial Black" pitchFamily="34" charset="0"/>
      <p:bold r:id="rId32"/>
    </p:embeddedFont>
    <p:embeddedFont>
      <p:font typeface="Calibri" pitchFamily="34" charset="0"/>
      <p:regular r:id="rId33"/>
      <p:bold r:id="rId34"/>
      <p:italic r:id="rId35"/>
      <p:boldItalic r:id="rId36"/>
    </p:embeddedFont>
  </p:embeddedFont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onstantia" pitchFamily="18" charset="0"/>
        <a:ea typeface="+mn-ea"/>
        <a:cs typeface="Arial" pitchFamily="34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-564" y="-84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1CB4EF1-3652-4A5E-A27C-F2CB13C325B5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noProof="0" smtClean="0"/>
              <a:t>Образец текста</a:t>
            </a:r>
          </a:p>
          <a:p>
            <a:pPr lvl="1"/>
            <a:r>
              <a:rPr lang="ru-RU" noProof="0" smtClean="0"/>
              <a:t>Второй уровень</a:t>
            </a:r>
          </a:p>
          <a:p>
            <a:pPr lvl="2"/>
            <a:r>
              <a:rPr lang="ru-RU" noProof="0" smtClean="0"/>
              <a:t>Третий уровень</a:t>
            </a:r>
          </a:p>
          <a:p>
            <a:pPr lvl="3"/>
            <a:r>
              <a:rPr lang="ru-RU" noProof="0" smtClean="0"/>
              <a:t>Четвертый уровень</a:t>
            </a:r>
          </a:p>
          <a:p>
            <a:pPr lvl="4"/>
            <a:r>
              <a:rPr lang="ru-RU" noProof="0" smtClean="0"/>
              <a:t>Пятый уровень</a:t>
            </a:r>
            <a:endParaRPr lang="en-US" noProof="0" smtClean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0768C500-E2F6-4486-9D95-2C8F789BDD1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F3E101B-E864-44A9-98D9-04DEBE414CFD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2</a:t>
            </a:fld>
            <a:endParaRPr 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BA431B6-67CC-4844-95FC-40C51C1DEF9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3</a:t>
            </a:fld>
            <a:endParaRPr 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486B58C-F760-406E-846A-695F02492410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4</a:t>
            </a:fld>
            <a:endParaRPr 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271147AC-5E03-4BFF-AEBB-7D8D27E9048C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305BEA7D-D35C-4438-A638-4C172850C896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0964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C6D1480-0A0C-4DAB-B4D3-4B6D21795261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1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D52B509-0CA6-4B05-ACCF-1873EB352A28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403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3012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F756FF6B-E342-4811-A0DF-65C8D0139045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9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4036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8AB7331-0FB3-4A4F-BF16-F2BE07E4DFC3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11</a:t>
            </a:fld>
            <a:endParaRPr 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ru-RU" smtClean="0"/>
          </a:p>
        </p:txBody>
      </p:sp>
      <p:sp>
        <p:nvSpPr>
          <p:cNvPr id="45060" name="Slide Number Placeholder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A2383D47-CD71-47B3-9151-EE90AAA5D96F}" type="slidenum">
              <a:rPr lang="en-US" smtClean="0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en-US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2341563" y="4260850"/>
            <a:ext cx="4754562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Прямая соединительная линия 4"/>
          <p:cNvCxnSpPr/>
          <p:nvPr/>
        </p:nvCxnSpPr>
        <p:spPr>
          <a:xfrm>
            <a:off x="7534275" y="4260850"/>
            <a:ext cx="4754563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Овал 5"/>
          <p:cNvSpPr/>
          <p:nvPr/>
        </p:nvSpPr>
        <p:spPr>
          <a:xfrm>
            <a:off x="7264400" y="4232275"/>
            <a:ext cx="73025" cy="53975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130622" tIns="65311" rIns="130622" bIns="65311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731520" y="4439765"/>
            <a:ext cx="13289280" cy="1371600"/>
          </a:xfrm>
        </p:spPr>
        <p:txBody>
          <a:bodyPr>
            <a:noAutofit/>
          </a:bodyPr>
          <a:lstStyle>
            <a:lvl1pPr marL="0" indent="0" algn="ctr">
              <a:buNone/>
              <a:defRPr sz="3100" spc="143" baseline="0">
                <a:solidFill>
                  <a:schemeClr val="tx2"/>
                </a:solidFill>
              </a:defRPr>
            </a:lvl1pPr>
            <a:lvl2pPr marL="653110" indent="0" algn="ctr">
              <a:buNone/>
            </a:lvl2pPr>
            <a:lvl3pPr marL="1306220" indent="0" algn="ctr">
              <a:buNone/>
            </a:lvl3pPr>
            <a:lvl4pPr marL="1959331" indent="0" algn="ctr">
              <a:buNone/>
            </a:lvl4pPr>
            <a:lvl5pPr marL="2612441" indent="0" algn="ctr">
              <a:buNone/>
            </a:lvl5pPr>
            <a:lvl6pPr marL="3265551" indent="0" algn="ctr">
              <a:buNone/>
            </a:lvl6pPr>
            <a:lvl7pPr marL="3918661" indent="0" algn="ctr">
              <a:buNone/>
            </a:lvl7pPr>
            <a:lvl8pPr marL="4571771" indent="0" algn="ctr">
              <a:buNone/>
            </a:lvl8pPr>
            <a:lvl9pPr marL="5224882" indent="0" algn="ctr">
              <a:buNone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28" name="Заголовок 27"/>
          <p:cNvSpPr>
            <a:spLocks noGrp="1"/>
          </p:cNvSpPr>
          <p:nvPr>
            <p:ph type="ctrTitle"/>
          </p:nvPr>
        </p:nvSpPr>
        <p:spPr>
          <a:xfrm>
            <a:off x="731520" y="1720478"/>
            <a:ext cx="13289280" cy="2377440"/>
          </a:xfrm>
          <a:ln w="6350" cap="rnd">
            <a:noFill/>
          </a:ln>
        </p:spPr>
        <p:txBody>
          <a:bodyPr>
            <a:noAutofit/>
          </a:bodyPr>
          <a:lstStyle>
            <a:lvl1pPr algn="ctr">
              <a:defRPr lang="en-US" sz="69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7" name="Дата 1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1328C5-FF5F-42C6-A070-D9F9035254C2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8" name="Номер слайда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E1BC15D-A531-4A49-9CC9-D480AAE646E4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Нижний колонтитул 16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Объект 8"/>
          <p:cNvSpPr>
            <a:spLocks noGrp="1"/>
          </p:cNvSpPr>
          <p:nvPr>
            <p:ph idx="1"/>
          </p:nvPr>
        </p:nvSpPr>
        <p:spPr>
          <a:xfrm>
            <a:off x="731520" y="1828800"/>
            <a:ext cx="13167360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7" name="Заголовок 1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4" name="Дата 1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46CCB1-C8AA-41AA-95AE-8EF9A52C9B44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омер слайда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pPr>
              <a:defRPr/>
            </a:pPr>
            <a:fld id="{D35A5C7D-4320-4FC5-8D7D-84FFC7E55F7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6" name="Нижний колонтитул 1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Прямая соединительная линия 3"/>
          <p:cNvCxnSpPr/>
          <p:nvPr/>
        </p:nvCxnSpPr>
        <p:spPr>
          <a:xfrm>
            <a:off x="1096963" y="5900738"/>
            <a:ext cx="12679362" cy="4762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97280" y="4206240"/>
            <a:ext cx="12679680" cy="164592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69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97280" y="5950637"/>
            <a:ext cx="12679680" cy="1181683"/>
          </a:xfrm>
        </p:spPr>
        <p:txBody>
          <a:bodyPr/>
          <a:lstStyle>
            <a:lvl1pPr marL="0" indent="0">
              <a:buNone/>
              <a:defRPr sz="2900" spc="143" baseline="0">
                <a:solidFill>
                  <a:schemeClr val="tx2"/>
                </a:solidFill>
              </a:defRPr>
            </a:lvl1pPr>
            <a:lvl2pPr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657557-1007-46C6-AB99-59542A78C151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707526-08B5-4C4A-8F2F-C94E8B1335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1" name="Объект 10"/>
          <p:cNvSpPr>
            <a:spLocks noGrp="1"/>
          </p:cNvSpPr>
          <p:nvPr>
            <p:ph sz="half" idx="1"/>
          </p:nvPr>
        </p:nvSpPr>
        <p:spPr>
          <a:xfrm>
            <a:off x="7315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13" name="Объект 12"/>
          <p:cNvSpPr>
            <a:spLocks noGrp="1"/>
          </p:cNvSpPr>
          <p:nvPr>
            <p:ph sz="half" idx="2"/>
          </p:nvPr>
        </p:nvSpPr>
        <p:spPr>
          <a:xfrm>
            <a:off x="7437120" y="1828800"/>
            <a:ext cx="6495898" cy="54864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8DFF4C-46C4-4F6B-A9A2-A230B0F9FB4D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85F68A-08B3-4659-9D25-0E7BA0E3BF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/>
          <p:cNvCxnSpPr/>
          <p:nvPr/>
        </p:nvCxnSpPr>
        <p:spPr>
          <a:xfrm>
            <a:off x="900113" y="2616200"/>
            <a:ext cx="5999162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единительная линия 7"/>
          <p:cNvCxnSpPr/>
          <p:nvPr/>
        </p:nvCxnSpPr>
        <p:spPr>
          <a:xfrm>
            <a:off x="7607300" y="2616200"/>
            <a:ext cx="5999163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15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2" name="Объект 31"/>
          <p:cNvSpPr>
            <a:spLocks noGrp="1"/>
          </p:cNvSpPr>
          <p:nvPr>
            <p:ph sz="half" idx="2"/>
          </p:nvPr>
        </p:nvSpPr>
        <p:spPr>
          <a:xfrm>
            <a:off x="731520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4" name="Объект 33"/>
          <p:cNvSpPr>
            <a:spLocks noGrp="1"/>
          </p:cNvSpPr>
          <p:nvPr>
            <p:ph sz="quarter" idx="4"/>
          </p:nvPr>
        </p:nvSpPr>
        <p:spPr>
          <a:xfrm>
            <a:off x="7439661" y="2642275"/>
            <a:ext cx="6461760" cy="469635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1520" y="186538"/>
            <a:ext cx="13167360" cy="1371600"/>
          </a:xfrm>
        </p:spPr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12" name="Текст 11"/>
          <p:cNvSpPr>
            <a:spLocks noGrp="1"/>
          </p:cNvSpPr>
          <p:nvPr>
            <p:ph type="body" idx="3"/>
          </p:nvPr>
        </p:nvSpPr>
        <p:spPr>
          <a:xfrm>
            <a:off x="7437120" y="1679512"/>
            <a:ext cx="6464301" cy="9144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anchor="b">
            <a:noAutofit/>
          </a:bodyPr>
          <a:lstStyle>
            <a:lvl1pPr marL="0" indent="0" algn="l">
              <a:spcBef>
                <a:spcPts val="0"/>
              </a:spcBef>
              <a:buNone/>
              <a:defRPr sz="3700" b="1" baseline="0">
                <a:solidFill>
                  <a:schemeClr val="tx2"/>
                </a:solidFill>
              </a:defRPr>
            </a:lvl1pPr>
            <a:lvl2pPr>
              <a:buNone/>
              <a:defRPr sz="2900" b="1"/>
            </a:lvl2pPr>
            <a:lvl3pPr>
              <a:buNone/>
              <a:defRPr sz="2600" b="1"/>
            </a:lvl3pPr>
            <a:lvl4pPr>
              <a:buNone/>
              <a:defRPr sz="2300" b="1"/>
            </a:lvl4pPr>
            <a:lvl5pPr>
              <a:buNone/>
              <a:defRPr sz="2300" b="1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D7322C7-199D-40D8-A2F3-71FB05FE2A2D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0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1" name="Дата 6"/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A09964-4B71-4541-9426-D8D1C0E2DF87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56213C-5594-4DFB-BB0B-65DDBA8EF175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EA677E-A7C4-43EF-A8CA-54E503CAF6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0F4E4B2-099E-402D-9B4C-0128EC76E73E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D1A34D-4216-4448-82DF-16B353F93C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Объект 28"/>
          <p:cNvSpPr>
            <a:spLocks noGrp="1"/>
          </p:cNvSpPr>
          <p:nvPr>
            <p:ph sz="quarter" idx="1"/>
          </p:nvPr>
        </p:nvSpPr>
        <p:spPr>
          <a:xfrm>
            <a:off x="731520" y="548640"/>
            <a:ext cx="9997440" cy="68580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10850880" y="1920240"/>
            <a:ext cx="3174797" cy="448056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None/>
              <a:defRPr sz="2300">
                <a:solidFill>
                  <a:schemeClr val="tx2"/>
                </a:solidFill>
              </a:defRPr>
            </a:lvl1pPr>
            <a:lvl2pPr>
              <a:buNone/>
              <a:defRPr sz="1700"/>
            </a:lvl2pPr>
            <a:lvl3pPr>
              <a:buNone/>
              <a:defRPr sz="1400"/>
            </a:lvl3pPr>
            <a:lvl4pPr>
              <a:buNone/>
              <a:defRPr sz="1300"/>
            </a:lvl4pPr>
            <a:lvl5pPr>
              <a:buNone/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Заголовок 30"/>
          <p:cNvSpPr>
            <a:spLocks noGrp="1"/>
          </p:cNvSpPr>
          <p:nvPr>
            <p:ph type="title"/>
          </p:nvPr>
        </p:nvSpPr>
        <p:spPr>
          <a:xfrm>
            <a:off x="10850880" y="548640"/>
            <a:ext cx="316992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6D44A0-70F4-49CC-B9C0-53AFDB5A2B03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E886A36-02BD-4FD8-87D9-89F042F2A9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607040" y="548640"/>
            <a:ext cx="3291840" cy="1280160"/>
          </a:xfrm>
        </p:spPr>
        <p:txBody>
          <a:bodyPr tIns="130622"/>
          <a:lstStyle>
            <a:lvl1pPr algn="l">
              <a:buNone/>
              <a:defRPr sz="2600" b="1" spc="-71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731520" y="548640"/>
            <a:ext cx="9631680" cy="667512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>
            <a:normAutofit/>
          </a:bodyPr>
          <a:lstStyle>
            <a:lvl1pPr marL="0" indent="0">
              <a:buNone/>
              <a:defRPr sz="4600">
                <a:solidFill>
                  <a:schemeClr val="bg1"/>
                </a:solidFill>
              </a:defRPr>
            </a:lvl1pPr>
          </a:lstStyle>
          <a:p>
            <a:pPr lvl="0"/>
            <a:r>
              <a:rPr lang="ru-RU" noProof="0" smtClean="0"/>
              <a:t>Вставка рисунка</a:t>
            </a:r>
            <a:endParaRPr lang="en-US" noProof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0607040" y="1920240"/>
            <a:ext cx="3291840" cy="5303520"/>
          </a:xfrm>
        </p:spPr>
        <p:txBody>
          <a:bodyPr/>
          <a:lstStyle>
            <a:lvl1pPr marL="0" indent="0">
              <a:lnSpc>
                <a:spcPct val="125000"/>
              </a:lnSpc>
              <a:spcAft>
                <a:spcPts val="1429"/>
              </a:spcAft>
              <a:buFontTx/>
              <a:buNone/>
              <a:defRPr sz="2300" b="0">
                <a:solidFill>
                  <a:schemeClr val="tx2"/>
                </a:solidFill>
              </a:defRPr>
            </a:lvl1pPr>
            <a:lvl2pPr>
              <a:defRPr sz="1700"/>
            </a:lvl2pPr>
            <a:lvl3pPr>
              <a:defRPr sz="1400"/>
            </a:lvl3pPr>
            <a:lvl4pPr>
              <a:defRPr sz="1300"/>
            </a:lvl4pPr>
            <a:lvl5pPr>
              <a:defRPr sz="1300"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FE3ECC-64FF-4D4E-989C-C1836AACF2A4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6" name="Номер слайда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49018-3CE4-477E-BB91-EA9EF0E1247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Нижний колонтитул 9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80619-7A5A-400C-B618-DF3599CE593E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83074D-F707-4609-A9E3-B1EBF79043B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5B02DE-052D-40A9-B342-01F89873F576}" type="datetimeFigureOut">
              <a:rPr lang="en-US"/>
              <a:pPr>
                <a:defRPr/>
              </a:pPr>
              <a:t>2/17/2026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639105-7C09-437E-B135-38F9837B55D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Текст 8"/>
          <p:cNvSpPr>
            <a:spLocks noGrp="1"/>
          </p:cNvSpPr>
          <p:nvPr>
            <p:ph type="body" idx="1"/>
          </p:nvPr>
        </p:nvSpPr>
        <p:spPr bwMode="auto">
          <a:xfrm>
            <a:off x="731838" y="1736725"/>
            <a:ext cx="13166725" cy="5614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smtClean="0"/>
          </a:p>
        </p:txBody>
      </p:sp>
      <p:sp>
        <p:nvSpPr>
          <p:cNvPr id="24" name="Дата 23"/>
          <p:cNvSpPr>
            <a:spLocks noGrp="1"/>
          </p:cNvSpPr>
          <p:nvPr>
            <p:ph type="dt" sz="half" idx="2"/>
          </p:nvPr>
        </p:nvSpPr>
        <p:spPr>
          <a:xfrm>
            <a:off x="9266238" y="7443788"/>
            <a:ext cx="4144962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035C7A6B-7CC0-4FC3-9C67-D09A16AE2947}" type="datetimeFigureOut">
              <a:rPr lang="en-US"/>
              <a:pPr>
                <a:defRPr/>
              </a:pPr>
              <a:t>2/17/2026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10" name="Нижний колонтитул 9"/>
          <p:cNvSpPr>
            <a:spLocks noGrp="1"/>
          </p:cNvSpPr>
          <p:nvPr>
            <p:ph type="ftr" sz="quarter" idx="3"/>
          </p:nvPr>
        </p:nvSpPr>
        <p:spPr>
          <a:xfrm>
            <a:off x="3413125" y="7443788"/>
            <a:ext cx="5730875" cy="461962"/>
          </a:xfrm>
          <a:prstGeom prst="rect">
            <a:avLst/>
          </a:prstGeom>
        </p:spPr>
        <p:txBody>
          <a:bodyPr vert="horz" lIns="130622" tIns="65311" rIns="130622" bIns="65311" anchor="ctr" anchorCtr="0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700">
                <a:solidFill>
                  <a:schemeClr val="accent1">
                    <a:shade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2" name="Номер слайда 21"/>
          <p:cNvSpPr>
            <a:spLocks noGrp="1"/>
          </p:cNvSpPr>
          <p:nvPr>
            <p:ph type="sldNum" sz="quarter" idx="4"/>
          </p:nvPr>
        </p:nvSpPr>
        <p:spPr>
          <a:xfrm>
            <a:off x="13457238" y="7418388"/>
            <a:ext cx="974725" cy="547687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fontAlgn="auto" latinLnBrk="0" hangingPunct="1">
              <a:spcBef>
                <a:spcPts val="0"/>
              </a:spcBef>
              <a:spcAft>
                <a:spcPts val="0"/>
              </a:spcAft>
              <a:defRPr kumimoji="0" sz="2300" baseline="0">
                <a:solidFill>
                  <a:schemeClr val="tx2"/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DC4D655-0194-4B15-9640-049CD197946F}" type="slidenum">
              <a:rPr lang="en-US"/>
              <a:pPr>
                <a:defRPr/>
              </a:pPr>
              <a:t>‹#›</a:t>
            </a:fld>
            <a:endParaRPr lang="en-US" dirty="0">
              <a:solidFill>
                <a:schemeClr val="accent1">
                  <a:shade val="75000"/>
                </a:schemeClr>
              </a:solidFill>
            </a:endParaRPr>
          </a:p>
        </p:txBody>
      </p:sp>
      <p:sp>
        <p:nvSpPr>
          <p:cNvPr id="5" name="Заголовок 4"/>
          <p:cNvSpPr>
            <a:spLocks noGrp="1"/>
          </p:cNvSpPr>
          <p:nvPr>
            <p:ph type="title"/>
          </p:nvPr>
        </p:nvSpPr>
        <p:spPr>
          <a:xfrm>
            <a:off x="731838" y="182563"/>
            <a:ext cx="13166725" cy="1463675"/>
          </a:xfrm>
          <a:prstGeom prst="rect">
            <a:avLst/>
          </a:prstGeom>
          <a:ln w="6350" cap="rnd">
            <a:noFill/>
          </a:ln>
        </p:spPr>
        <p:txBody>
          <a:bodyPr vert="horz" lIns="130622" tIns="65311" rIns="130622" bIns="65311" anchor="b" anchorCtr="0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51" r:id="rId1"/>
    <p:sldLayoutId id="2147483852" r:id="rId2"/>
    <p:sldLayoutId id="2147483853" r:id="rId3"/>
    <p:sldLayoutId id="2147483854" r:id="rId4"/>
    <p:sldLayoutId id="2147483855" r:id="rId5"/>
    <p:sldLayoutId id="2147483856" r:id="rId6"/>
    <p:sldLayoutId id="2147483857" r:id="rId7"/>
    <p:sldLayoutId id="2147483858" r:id="rId8"/>
    <p:sldLayoutId id="2147483859" r:id="rId9"/>
    <p:sldLayoutId id="2147483860" r:id="rId10"/>
    <p:sldLayoutId id="2147483861" r:id="rId11"/>
    <p:sldLayoutId id="2147483862" r:id="rId12"/>
    <p:sldLayoutId id="2147483863" r:id="rId13"/>
    <p:sldLayoutId id="2147483864" r:id="rId14"/>
    <p:sldLayoutId id="2147483865" r:id="rId15"/>
    <p:sldLayoutId id="2147483866" r:id="rId16"/>
    <p:sldLayoutId id="2147483867" r:id="rId17"/>
    <p:sldLayoutId id="2147483868" r:id="rId18"/>
    <p:sldLayoutId id="2147483869" r:id="rId19"/>
    <p:sldLayoutId id="2147483870" r:id="rId20"/>
    <p:sldLayoutId id="2147483871" r:id="rId21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lang="en-US" sz="6000" kern="1200" spc="-143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6000">
          <a:solidFill>
            <a:srgbClr val="F9F9F9"/>
          </a:solidFill>
          <a:latin typeface="Constantia" pitchFamily="18" charset="0"/>
        </a:defRPr>
      </a:lvl9pPr>
    </p:titleStyle>
    <p:bodyStyle>
      <a:lvl1pPr marL="390525" indent="-390525" algn="l" rtl="0" eaLnBrk="0" fontAlgn="base" hangingPunct="0">
        <a:spcBef>
          <a:spcPts val="863"/>
        </a:spcBef>
        <a:spcAft>
          <a:spcPct val="0"/>
        </a:spcAft>
        <a:buClr>
          <a:schemeClr val="accent2"/>
        </a:buClr>
        <a:buSzPct val="85000"/>
        <a:buFont typeface="Wingdings 2" pitchFamily="18" charset="2"/>
        <a:buChar char="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912813" indent="-390525" algn="l" rtl="0" eaLnBrk="0" fontAlgn="base" hangingPunct="0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3400" kern="1200">
          <a:solidFill>
            <a:schemeClr val="tx2"/>
          </a:solidFill>
          <a:latin typeface="+mn-lt"/>
          <a:ea typeface="+mn-ea"/>
          <a:cs typeface="+mn-cs"/>
        </a:defRPr>
      </a:lvl2pPr>
      <a:lvl3pPr marL="1436688" indent="-325438" algn="l" rtl="0" eaLnBrk="0" fontAlgn="base" hangingPunct="0">
        <a:spcBef>
          <a:spcPts val="425"/>
        </a:spcBef>
        <a:spcAft>
          <a:spcPct val="0"/>
        </a:spcAft>
        <a:buClr>
          <a:srgbClr val="B37732"/>
        </a:buClr>
        <a:buSzPct val="85000"/>
        <a:buFont typeface="Wingdings 2" pitchFamily="18" charset="2"/>
        <a:buChar char="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1827213" indent="-325438" algn="l" rtl="0" eaLnBrk="0" fontAlgn="base" hangingPunct="0">
        <a:spcBef>
          <a:spcPts val="425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219325" indent="-325438" algn="l" rtl="0" eaLnBrk="0" fontAlgn="base" hangingPunct="0">
        <a:spcBef>
          <a:spcPts val="488"/>
        </a:spcBef>
        <a:spcAft>
          <a:spcPct val="0"/>
        </a:spcAft>
        <a:buClr>
          <a:srgbClr val="D6903D"/>
        </a:buClr>
        <a:buSzPct val="85000"/>
        <a:buFont typeface="Wingdings 2" pitchFamily="18" charset="2"/>
        <a:buChar char="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612441" indent="-326555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2873685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3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65551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7" indent="-261244" algn="l" rtl="0" eaLnBrk="1" latinLnBrk="0" hangingPunct="1">
        <a:spcBef>
          <a:spcPts val="486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одзаголовок 1"/>
          <p:cNvSpPr>
            <a:spLocks noGrp="1"/>
          </p:cNvSpPr>
          <p:nvPr>
            <p:ph type="subTitle" idx="1"/>
          </p:nvPr>
        </p:nvSpPr>
        <p:spPr>
          <a:xfrm>
            <a:off x="731838" y="4440238"/>
            <a:ext cx="13288962" cy="1765300"/>
          </a:xfrm>
        </p:spPr>
        <p:txBody>
          <a:bodyPr/>
          <a:lstStyle/>
          <a:p>
            <a:pPr eaLnBrk="1" fontAlgn="auto" hangingPunct="1">
              <a:spcBef>
                <a:spcPts val="857"/>
              </a:spcBef>
              <a:spcAft>
                <a:spcPts val="0"/>
              </a:spcAft>
              <a:buFont typeface="Wingdings 2"/>
              <a:buNone/>
              <a:defRPr/>
            </a:pPr>
            <a:r>
              <a:rPr lang="en-US" sz="4400" b="1" i="1" dirty="0" err="1" smtClean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Mavzu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: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Sodda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formulalarni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kiritishda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manzilidan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foydalanish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Formulalarni</a:t>
            </a:r>
            <a:r>
              <a:rPr lang="en-US" sz="4400" b="1" i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b="1" i="1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nusxalash</a:t>
            </a:r>
            <a:endParaRPr lang="en-US" sz="4400" b="1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ctrTitle"/>
          </p:nvPr>
        </p:nvSpPr>
        <p:spPr>
          <a:xfrm>
            <a:off x="731520" y="575353"/>
            <a:ext cx="13289280" cy="352256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6-sinf </a:t>
            </a:r>
            <a:br>
              <a:rPr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</a:br>
            <a:r>
              <a:rPr b="1" i="1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Informatika</a:t>
            </a:r>
            <a:r>
              <a:rPr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axborot</a:t>
            </a:r>
            <a:r>
              <a:rPr b="1" i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b="1" i="1" err="1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texnologiyalari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578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0"/>
          <p:cNvSpPr/>
          <p:nvPr/>
        </p:nvSpPr>
        <p:spPr>
          <a:xfrm>
            <a:off x="6280150" y="2332038"/>
            <a:ext cx="6473825" cy="7080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50" dirty="0">
              <a:latin typeface="+mn-lt"/>
              <a:cs typeface="+mn-cs"/>
            </a:endParaRPr>
          </a:p>
        </p:txBody>
      </p:sp>
      <p:sp>
        <p:nvSpPr>
          <p:cNvPr id="24580" name="Text 1"/>
          <p:cNvSpPr>
            <a:spLocks noChangeArrowheads="1"/>
          </p:cNvSpPr>
          <p:nvPr/>
        </p:nvSpPr>
        <p:spPr bwMode="auto">
          <a:xfrm>
            <a:off x="6280150" y="3130550"/>
            <a:ext cx="7556500" cy="170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4450"/>
              </a:lnSpc>
            </a:pPr>
            <a:r>
              <a:rPr lang="en-US" sz="36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SODDA  FORMULALARDA  KATAK MANZILIDAN  FOYDALANISH</a:t>
            </a:r>
            <a:endParaRPr lang="en-US" sz="36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4581" name="Text 2"/>
          <p:cNvSpPr>
            <a:spLocks noChangeArrowheads="1"/>
          </p:cNvSpPr>
          <p:nvPr/>
        </p:nvSpPr>
        <p:spPr bwMode="auto">
          <a:xfrm>
            <a:off x="6280150" y="5172075"/>
            <a:ext cx="7556500" cy="167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Elektron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jadvalda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raqamlarni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formulada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yozish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shart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emas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.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Buning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o'rniga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katak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manzilidan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(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masalan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, A1)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foydalanish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 </a:t>
            </a:r>
            <a:r>
              <a:rPr lang="en-US" sz="2800" i="1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mumkin</a:t>
            </a:r>
            <a:r>
              <a:rPr lang="en-US" sz="2800" i="1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3" name="Text 0"/>
          <p:cNvSpPr>
            <a:spLocks noChangeArrowheads="1"/>
          </p:cNvSpPr>
          <p:nvPr/>
        </p:nvSpPr>
        <p:spPr bwMode="auto">
          <a:xfrm>
            <a:off x="6280150" y="1928813"/>
            <a:ext cx="7556500" cy="1135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4450"/>
              </a:lnSpc>
            </a:pPr>
            <a:r>
              <a:rPr lang="en-US" sz="36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4.1-MASHG'ULOT:  KATAK MANZILLARINI  KIRITISH</a:t>
            </a:r>
            <a:endParaRPr lang="en-US" sz="36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403640"/>
            <a:ext cx="7556421" cy="7334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A2 katagiga ixtiyoriy raqam, B2 katagiga boshqa raqam yozing. C2 katagiga esa ushbu formulani kiriting: </a:t>
            </a:r>
            <a:r>
              <a:rPr lang="en-US" sz="2000" i="1" dirty="0">
                <a:solidFill>
                  <a:srgbClr val="7030A0"/>
                </a:solidFill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=A2+B2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sz="20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5605" name="Shape 2"/>
          <p:cNvSpPr>
            <a:spLocks noChangeArrowheads="1"/>
          </p:cNvSpPr>
          <p:nvPr/>
        </p:nvSpPr>
        <p:spPr bwMode="auto">
          <a:xfrm>
            <a:off x="6280150" y="4392613"/>
            <a:ext cx="7556500" cy="1908175"/>
          </a:xfrm>
          <a:prstGeom prst="roundRect">
            <a:avLst>
              <a:gd name="adj" fmla="val 1782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25606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07163" y="4710113"/>
            <a:ext cx="354012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607" name="Text 3"/>
          <p:cNvSpPr>
            <a:spLocks noChangeArrowheads="1"/>
          </p:cNvSpPr>
          <p:nvPr/>
        </p:nvSpPr>
        <p:spPr bwMode="auto">
          <a:xfrm>
            <a:off x="7088188" y="4675188"/>
            <a:ext cx="28352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7030A0"/>
                </a:solidFill>
                <a:latin typeface="Hubot Sans Bold"/>
                <a:ea typeface="Hubot Sans Bold"/>
                <a:cs typeface="Hubot Sans Bold"/>
              </a:rPr>
              <a:t>MASLAHAT</a:t>
            </a:r>
            <a:endParaRPr lang="en-US" sz="2200">
              <a:solidFill>
                <a:srgbClr val="7030A0"/>
              </a:solidFill>
            </a:endParaRPr>
          </a:p>
        </p:txBody>
      </p:sp>
      <p:sp>
        <p:nvSpPr>
          <p:cNvPr id="25608" name="Text 4"/>
          <p:cNvSpPr>
            <a:spLocks noChangeArrowheads="1"/>
          </p:cNvSpPr>
          <p:nvPr/>
        </p:nvSpPr>
        <p:spPr bwMode="auto">
          <a:xfrm>
            <a:off x="7088188" y="5256213"/>
            <a:ext cx="6521450" cy="727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A1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va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B1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deb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yozish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o'rniga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ularni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shunchaki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sichqoncha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bilan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bosish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bg1"/>
                </a:solidFill>
                <a:latin typeface="Times New Roman" pitchFamily="18" charset="0"/>
              </a:rPr>
              <a:t>mumkin</a:t>
            </a:r>
            <a:r>
              <a:rPr lang="en-US" sz="2400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sz="2400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0"/>
          <p:cNvSpPr>
            <a:spLocks noChangeArrowheads="1"/>
          </p:cNvSpPr>
          <p:nvPr/>
        </p:nvSpPr>
        <p:spPr bwMode="auto">
          <a:xfrm>
            <a:off x="793750" y="615950"/>
            <a:ext cx="11295063" cy="692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4450"/>
              </a:lnSpc>
            </a:pPr>
            <a:r>
              <a:rPr lang="en-US" sz="40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ELEKTRON JADVALGA QAYTA ISHLOV BERISH</a:t>
            </a:r>
            <a:endParaRPr lang="en-US" sz="40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7" name="Text 1"/>
          <p:cNvSpPr>
            <a:spLocks noChangeArrowheads="1"/>
          </p:cNvSpPr>
          <p:nvPr/>
        </p:nvSpPr>
        <p:spPr bwMode="auto">
          <a:xfrm>
            <a:off x="793750" y="1725613"/>
            <a:ext cx="7956550" cy="7889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300"/>
              </a:lnSpc>
            </a:pPr>
            <a:r>
              <a:rPr lang="en-US" sz="36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ASOSIY AMALLAR</a:t>
            </a:r>
            <a:endParaRPr lang="en-US" sz="3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8" name="Shape 2"/>
          <p:cNvSpPr>
            <a:spLocks noChangeArrowheads="1"/>
          </p:cNvSpPr>
          <p:nvPr/>
        </p:nvSpPr>
        <p:spPr bwMode="auto">
          <a:xfrm>
            <a:off x="793750" y="2854325"/>
            <a:ext cx="6408738" cy="1368425"/>
          </a:xfrm>
          <a:prstGeom prst="roundRect">
            <a:avLst>
              <a:gd name="adj" fmla="val 2486"/>
            </a:avLst>
          </a:prstGeom>
          <a:solidFill>
            <a:srgbClr val="92D050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29" name="Text 3"/>
          <p:cNvSpPr>
            <a:spLocks noChangeArrowheads="1"/>
          </p:cNvSpPr>
          <p:nvPr/>
        </p:nvSpPr>
        <p:spPr bwMode="auto">
          <a:xfrm>
            <a:off x="1050925" y="31115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4.2 QO'SHISH</a:t>
            </a:r>
            <a:endParaRPr lang="en-US" sz="24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1050925" y="3602038"/>
            <a:ext cx="5892800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B10 va B11 ni qo'shish uchun B12 katagiga formula yozing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1" name="Shape 5"/>
          <p:cNvSpPr>
            <a:spLocks noChangeArrowheads="1"/>
          </p:cNvSpPr>
          <p:nvPr/>
        </p:nvSpPr>
        <p:spPr bwMode="auto">
          <a:xfrm>
            <a:off x="7427913" y="2854325"/>
            <a:ext cx="6408737" cy="1368425"/>
          </a:xfrm>
          <a:prstGeom prst="roundRect">
            <a:avLst>
              <a:gd name="adj" fmla="val 2486"/>
            </a:avLst>
          </a:prstGeom>
          <a:solidFill>
            <a:srgbClr val="92D050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2" name="Text 6"/>
          <p:cNvSpPr>
            <a:spLocks noChangeArrowheads="1"/>
          </p:cNvSpPr>
          <p:nvPr/>
        </p:nvSpPr>
        <p:spPr bwMode="auto">
          <a:xfrm>
            <a:off x="7685088" y="311150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4.3 AYIRISH</a:t>
            </a:r>
            <a:endParaRPr lang="en-US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685088" y="3602038"/>
            <a:ext cx="5894387" cy="3635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B10-B11 amalini hisoblash uchun B13 katagiga formula yozing.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4" name="Shape 8"/>
          <p:cNvSpPr>
            <a:spLocks noChangeArrowheads="1"/>
          </p:cNvSpPr>
          <p:nvPr/>
        </p:nvSpPr>
        <p:spPr bwMode="auto">
          <a:xfrm>
            <a:off x="793750" y="4449763"/>
            <a:ext cx="6408738" cy="1366837"/>
          </a:xfrm>
          <a:prstGeom prst="roundRect">
            <a:avLst>
              <a:gd name="adj" fmla="val 2486"/>
            </a:avLst>
          </a:prstGeom>
          <a:solidFill>
            <a:srgbClr val="92D050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5" name="Text 9"/>
          <p:cNvSpPr>
            <a:spLocks noChangeArrowheads="1"/>
          </p:cNvSpPr>
          <p:nvPr/>
        </p:nvSpPr>
        <p:spPr bwMode="auto">
          <a:xfrm>
            <a:off x="1050925" y="47069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4.4 BO'LISH</a:t>
            </a:r>
            <a:endParaRPr lang="en-US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50925" y="5197475"/>
            <a:ext cx="5892800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B10/B11 amalini hisoblash uchun B14 katagiga formula yozing</a:t>
            </a:r>
            <a:r>
              <a:rPr lang="en-US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7" name="Shape 11"/>
          <p:cNvSpPr>
            <a:spLocks noChangeArrowheads="1"/>
          </p:cNvSpPr>
          <p:nvPr/>
        </p:nvSpPr>
        <p:spPr bwMode="auto">
          <a:xfrm>
            <a:off x="7427913" y="4449763"/>
            <a:ext cx="6408737" cy="1366837"/>
          </a:xfrm>
          <a:prstGeom prst="roundRect">
            <a:avLst>
              <a:gd name="adj" fmla="val 2486"/>
            </a:avLst>
          </a:prstGeom>
          <a:solidFill>
            <a:srgbClr val="92D050"/>
          </a:solidFill>
          <a:ln w="30480">
            <a:solidFill>
              <a:srgbClr val="C8CAC1"/>
            </a:solidFill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38" name="Text 12"/>
          <p:cNvSpPr>
            <a:spLocks noChangeArrowheads="1"/>
          </p:cNvSpPr>
          <p:nvPr/>
        </p:nvSpPr>
        <p:spPr bwMode="auto">
          <a:xfrm>
            <a:off x="7685088" y="470693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400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4.5 KO'PAYTIRISH</a:t>
            </a:r>
            <a:endParaRPr lang="en-US" sz="240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685088" y="5197475"/>
            <a:ext cx="5894387" cy="3619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B10*B11 amalini hisoblash uchun B15 katagiga formula yozing.</a:t>
            </a:r>
            <a:endParaRPr lang="en-US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640" name="Text 14"/>
          <p:cNvSpPr>
            <a:spLocks noChangeArrowheads="1"/>
          </p:cNvSpPr>
          <p:nvPr/>
        </p:nvSpPr>
        <p:spPr bwMode="auto">
          <a:xfrm>
            <a:off x="793750" y="6072188"/>
            <a:ext cx="13042900" cy="725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4.6-mashg'ulot: A3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ixtiyoriy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B3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boshqa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raqam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 A2, B2, A3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B3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kataklaridagi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raqamlarni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bir-biriga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qo'shish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uchun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C3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formula </a:t>
            </a:r>
            <a:r>
              <a:rPr lang="en-US" sz="28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yozing</a:t>
            </a:r>
            <a:r>
              <a:rPr lang="en-US" sz="28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32376" y="746542"/>
            <a:ext cx="6478397" cy="44298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8353425" y="3054478"/>
            <a:ext cx="5347820" cy="4243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0"/>
          <p:cNvSpPr>
            <a:spLocks noChangeArrowheads="1"/>
          </p:cNvSpPr>
          <p:nvPr/>
        </p:nvSpPr>
        <p:spPr bwMode="auto">
          <a:xfrm>
            <a:off x="793750" y="1144588"/>
            <a:ext cx="9983788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4450"/>
              </a:lnSpc>
            </a:pPr>
            <a:r>
              <a:rPr lang="en-US" sz="36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4.7-MASHG'ULOT: KO'PAYTIRISH JADVALI</a:t>
            </a:r>
            <a:endParaRPr lang="en-US" sz="36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1" name="Text 1"/>
          <p:cNvSpPr>
            <a:spLocks noChangeArrowheads="1"/>
          </p:cNvSpPr>
          <p:nvPr/>
        </p:nvSpPr>
        <p:spPr bwMode="auto">
          <a:xfrm>
            <a:off x="793750" y="2165350"/>
            <a:ext cx="13042900" cy="361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E1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dan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J6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gacha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bo'lgan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kataklarda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ko'paytirish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jadvali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yaratish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</a:rPr>
              <a:t>mumkin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</a:rPr>
              <a:t>.</a:t>
            </a:r>
            <a:endParaRPr lang="en-US" sz="2000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2" name="Text 2"/>
          <p:cNvSpPr>
            <a:spLocks noChangeArrowheads="1"/>
          </p:cNvSpPr>
          <p:nvPr/>
        </p:nvSpPr>
        <p:spPr bwMode="auto">
          <a:xfrm>
            <a:off x="793750" y="2782888"/>
            <a:ext cx="13042900" cy="18145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F1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E2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ko'paytirish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F2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katagiga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formula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yozing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F1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E3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ko'paytirish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F3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katagiga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formula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yozing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F1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E4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ko'paytirish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F4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katagiga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formula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yozing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F5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va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F6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kataklarida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ham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davom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eting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indent="-342900">
              <a:lnSpc>
                <a:spcPts val="2850"/>
              </a:lnSpc>
              <a:buSzPct val="100000"/>
              <a:buFontTx/>
              <a:buChar char="•"/>
            </a:pP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G1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ni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E2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ko'paytirish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uchun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G2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katagiga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formula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yozing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Barcha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kataklar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to'lguniga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qadar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shu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usulda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davom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i="1" dirty="0" err="1">
                <a:solidFill>
                  <a:schemeClr val="bg1"/>
                </a:solidFill>
                <a:latin typeface="Times New Roman" pitchFamily="18" charset="0"/>
              </a:rPr>
              <a:t>eting</a:t>
            </a:r>
            <a:r>
              <a:rPr lang="en-US" i="1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i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653" name="Shape 3"/>
          <p:cNvSpPr>
            <a:spLocks noChangeArrowheads="1"/>
          </p:cNvSpPr>
          <p:nvPr/>
        </p:nvSpPr>
        <p:spPr bwMode="auto">
          <a:xfrm>
            <a:off x="793750" y="4852988"/>
            <a:ext cx="13042900" cy="1914525"/>
          </a:xfrm>
          <a:prstGeom prst="roundRect">
            <a:avLst>
              <a:gd name="adj" fmla="val 1778"/>
            </a:avLst>
          </a:prstGeom>
          <a:solidFill>
            <a:srgbClr val="92D050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pic>
        <p:nvPicPr>
          <p:cNvPr id="27654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20763" y="5170488"/>
            <a:ext cx="354012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7655" name="Text 4"/>
          <p:cNvSpPr>
            <a:spLocks noChangeArrowheads="1"/>
          </p:cNvSpPr>
          <p:nvPr/>
        </p:nvSpPr>
        <p:spPr bwMode="auto">
          <a:xfrm>
            <a:off x="1601788" y="5135563"/>
            <a:ext cx="2835275" cy="35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>
                <a:solidFill>
                  <a:srgbClr val="000000"/>
                </a:solidFill>
                <a:latin typeface="Hubot Sans Bold"/>
                <a:ea typeface="Hubot Sans Bold"/>
                <a:cs typeface="Hubot Sans Bold"/>
              </a:rPr>
              <a:t>MASLAHAT</a:t>
            </a:r>
            <a:endParaRPr lang="en-US" sz="2200"/>
          </a:p>
        </p:txBody>
      </p:sp>
      <p:sp>
        <p:nvSpPr>
          <p:cNvPr id="8" name="Text 5"/>
          <p:cNvSpPr/>
          <p:nvPr/>
        </p:nvSpPr>
        <p:spPr>
          <a:xfrm>
            <a:off x="1601748" y="5717373"/>
            <a:ext cx="12008048" cy="7334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8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400" i="1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Formulada ko'plab katak manzillaridan foydalanish mumkin. Har birining orasida maxsus belgi bo'lishiga ishonch hosil qiling. Masalan </a:t>
            </a:r>
            <a:r>
              <a:rPr lang="en-US" sz="2400" i="1" dirty="0">
                <a:solidFill>
                  <a:srgbClr val="002060"/>
                </a:solidFill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G1+H1+F1</a:t>
            </a:r>
            <a:r>
              <a:rPr lang="en-US" sz="2400" i="1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sz="2400" i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033661" y="0"/>
            <a:ext cx="3165069" cy="396417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74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Text 0"/>
          <p:cNvSpPr/>
          <p:nvPr/>
        </p:nvSpPr>
        <p:spPr>
          <a:xfrm>
            <a:off x="6280150" y="704850"/>
            <a:ext cx="6451600" cy="7080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555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4450" dirty="0">
              <a:latin typeface="+mn-lt"/>
              <a:cs typeface="+mn-cs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50" y="1503363"/>
            <a:ext cx="7556500" cy="1135062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4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3550" b="1" dirty="0">
                <a:solidFill>
                  <a:srgbClr val="7030A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SUM FUNKSIYASIDAN FOYDALANISH</a:t>
            </a:r>
            <a:endParaRPr lang="en-US" sz="355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7" name="Text 2"/>
          <p:cNvSpPr>
            <a:spLocks noChangeArrowheads="1"/>
          </p:cNvSpPr>
          <p:nvPr/>
        </p:nvSpPr>
        <p:spPr bwMode="auto">
          <a:xfrm>
            <a:off x="6280150" y="2978150"/>
            <a:ext cx="7556500" cy="1089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000" i="1">
                <a:solidFill>
                  <a:srgbClr val="002060"/>
                </a:solidFill>
                <a:latin typeface="Times New Roman" pitchFamily="18" charset="0"/>
              </a:rPr>
              <a:t>Elektron jadvallarning ma'lum </a:t>
            </a:r>
            <a:r>
              <a:rPr lang="en-US" sz="2000" b="1" i="1">
                <a:solidFill>
                  <a:srgbClr val="002060"/>
                </a:solidFill>
                <a:latin typeface="Times New Roman" pitchFamily="18" charset="0"/>
              </a:rPr>
              <a:t>funksiyalari</a:t>
            </a:r>
            <a:r>
              <a:rPr lang="en-US" sz="2000" i="1">
                <a:solidFill>
                  <a:srgbClr val="002060"/>
                </a:solidFill>
                <a:latin typeface="Times New Roman" pitchFamily="18" charset="0"/>
              </a:rPr>
              <a:t> bo'lib, ular matematik belgilarni yoki ko'plab katak manzillariga havolalarni yozmasdan ham </a:t>
            </a:r>
            <a:r>
              <a:rPr lang="en-US" sz="2000" b="1" i="1">
                <a:solidFill>
                  <a:srgbClr val="002060"/>
                </a:solidFill>
                <a:latin typeface="Times New Roman" pitchFamily="18" charset="0"/>
              </a:rPr>
              <a:t>maxsus</a:t>
            </a:r>
            <a:r>
              <a:rPr lang="en-US" sz="2000" i="1">
                <a:solidFill>
                  <a:srgbClr val="002060"/>
                </a:solidFill>
                <a:latin typeface="Times New Roman" pitchFamily="18" charset="0"/>
              </a:rPr>
              <a:t> hisob-kitoblarni amalga oshirish imkonini beradi.</a:t>
            </a:r>
            <a:endParaRPr lang="en-US" sz="20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78" name="Shape 3"/>
          <p:cNvSpPr>
            <a:spLocks noChangeArrowheads="1"/>
          </p:cNvSpPr>
          <p:nvPr/>
        </p:nvSpPr>
        <p:spPr bwMode="auto">
          <a:xfrm>
            <a:off x="6280150" y="4321175"/>
            <a:ext cx="3665538" cy="1670050"/>
          </a:xfrm>
          <a:prstGeom prst="roundRect">
            <a:avLst>
              <a:gd name="adj" fmla="val 2037"/>
            </a:avLst>
          </a:prstGeom>
          <a:solidFill>
            <a:srgbClr val="00B0F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679" name="Text 4"/>
          <p:cNvSpPr>
            <a:spLocks noChangeArrowheads="1"/>
          </p:cNvSpPr>
          <p:nvPr/>
        </p:nvSpPr>
        <p:spPr bwMode="auto">
          <a:xfrm>
            <a:off x="6507163" y="454818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 i="1">
                <a:solidFill>
                  <a:srgbClr val="000000"/>
                </a:solidFill>
                <a:latin typeface="Times New Roman" pitchFamily="18" charset="0"/>
                <a:ea typeface="Hubot Sans Bold"/>
                <a:cs typeface="Hubot Sans Bold"/>
              </a:rPr>
              <a:t>FUNKSIYA</a:t>
            </a:r>
            <a:endParaRPr lang="en-US" sz="22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80" name="Text 5"/>
          <p:cNvSpPr>
            <a:spLocks noChangeArrowheads="1"/>
          </p:cNvSpPr>
          <p:nvPr/>
        </p:nvSpPr>
        <p:spPr bwMode="auto">
          <a:xfrm>
            <a:off x="6507163" y="5038725"/>
            <a:ext cx="3211512" cy="7254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Kalit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so'z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orqali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bajariladigan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ko'rsatmalar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dirty="0" err="1">
                <a:solidFill>
                  <a:srgbClr val="002060"/>
                </a:solidFill>
                <a:latin typeface="Times New Roman" pitchFamily="18" charset="0"/>
              </a:rPr>
              <a:t>to'plami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81" name="Shape 6"/>
          <p:cNvSpPr>
            <a:spLocks noChangeArrowheads="1"/>
          </p:cNvSpPr>
          <p:nvPr/>
        </p:nvSpPr>
        <p:spPr bwMode="auto">
          <a:xfrm>
            <a:off x="10171113" y="4321175"/>
            <a:ext cx="3665537" cy="1670050"/>
          </a:xfrm>
          <a:prstGeom prst="roundRect">
            <a:avLst>
              <a:gd name="adj" fmla="val 2037"/>
            </a:avLst>
          </a:prstGeom>
          <a:solidFill>
            <a:srgbClr val="00B0F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682" name="Text 7"/>
          <p:cNvSpPr>
            <a:spLocks noChangeArrowheads="1"/>
          </p:cNvSpPr>
          <p:nvPr/>
        </p:nvSpPr>
        <p:spPr bwMode="auto">
          <a:xfrm>
            <a:off x="10398125" y="4548188"/>
            <a:ext cx="2835275" cy="354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 i="1">
                <a:solidFill>
                  <a:srgbClr val="000000"/>
                </a:solidFill>
                <a:latin typeface="Times New Roman" pitchFamily="18" charset="0"/>
                <a:ea typeface="Hubot Sans Bold"/>
                <a:cs typeface="Hubot Sans Bold"/>
              </a:rPr>
              <a:t>MAXSUS</a:t>
            </a:r>
            <a:endParaRPr lang="en-US" sz="2200" i="1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83" name="Text 8"/>
          <p:cNvSpPr>
            <a:spLocks noChangeArrowheads="1"/>
          </p:cNvSpPr>
          <p:nvPr/>
        </p:nvSpPr>
        <p:spPr bwMode="auto">
          <a:xfrm>
            <a:off x="10398125" y="5038725"/>
            <a:ext cx="3211513" cy="3635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000000"/>
                </a:solidFill>
                <a:latin typeface="Times New Roman" pitchFamily="18" charset="0"/>
              </a:rPr>
              <a:t>Biror aniq narsa.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84" name="Shape 9"/>
          <p:cNvSpPr>
            <a:spLocks noChangeArrowheads="1"/>
          </p:cNvSpPr>
          <p:nvPr/>
        </p:nvSpPr>
        <p:spPr bwMode="auto">
          <a:xfrm>
            <a:off x="6280150" y="6218238"/>
            <a:ext cx="7556500" cy="1306512"/>
          </a:xfrm>
          <a:prstGeom prst="roundRect">
            <a:avLst>
              <a:gd name="adj" fmla="val 2602"/>
            </a:avLst>
          </a:prstGeom>
          <a:solidFill>
            <a:srgbClr val="00B0F0">
              <a:alpha val="50195"/>
            </a:srgbClr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/>
          </a:p>
        </p:txBody>
      </p:sp>
      <p:sp>
        <p:nvSpPr>
          <p:cNvPr id="28685" name="Text 10"/>
          <p:cNvSpPr>
            <a:spLocks noChangeArrowheads="1"/>
          </p:cNvSpPr>
          <p:nvPr/>
        </p:nvSpPr>
        <p:spPr bwMode="auto">
          <a:xfrm>
            <a:off x="6507163" y="6445250"/>
            <a:ext cx="28352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750"/>
              </a:lnSpc>
            </a:pPr>
            <a:r>
              <a:rPr lang="en-US" sz="2200" b="1" i="1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SUM</a:t>
            </a:r>
            <a:endParaRPr lang="en-US" sz="2200" i="1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8686" name="Text 11"/>
          <p:cNvSpPr>
            <a:spLocks noChangeArrowheads="1"/>
          </p:cNvSpPr>
          <p:nvPr/>
        </p:nvSpPr>
        <p:spPr bwMode="auto">
          <a:xfrm>
            <a:off x="6507163" y="6935788"/>
            <a:ext cx="7102475" cy="363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850"/>
              </a:lnSpc>
            </a:pPr>
            <a:r>
              <a:rPr lang="en-US">
                <a:solidFill>
                  <a:srgbClr val="000000"/>
                </a:solidFill>
                <a:latin typeface="Times New Roman" pitchFamily="18" charset="0"/>
              </a:rPr>
              <a:t>Elektron jadvallardagi bir nechta qiymatlarni bir-biriga qo'shuvchi funksiya.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0"/>
          <p:cNvSpPr>
            <a:spLocks noChangeArrowheads="1"/>
          </p:cNvSpPr>
          <p:nvPr/>
        </p:nvSpPr>
        <p:spPr bwMode="auto">
          <a:xfrm>
            <a:off x="1770063" y="1301750"/>
            <a:ext cx="5284787" cy="65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150"/>
              </a:lnSpc>
            </a:pPr>
            <a:r>
              <a:rPr lang="en-US" sz="2800" b="1" i="1" dirty="0">
                <a:solidFill>
                  <a:srgbClr val="0C0D0F"/>
                </a:solidFill>
                <a:latin typeface="Times New Roman" pitchFamily="18" charset="0"/>
                <a:ea typeface="Hubot Sans Bold"/>
                <a:cs typeface="Hubot Sans Bold"/>
              </a:rPr>
              <a:t>SUM FUNKSIYASINI QO'LLASH</a:t>
            </a:r>
            <a:endParaRPr lang="en-US" sz="2800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700" name="Text 1"/>
          <p:cNvSpPr>
            <a:spLocks noChangeArrowheads="1"/>
          </p:cNvSpPr>
          <p:nvPr/>
        </p:nvSpPr>
        <p:spPr bwMode="auto">
          <a:xfrm>
            <a:off x="1770063" y="2200759"/>
            <a:ext cx="11090275" cy="1270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defRPr/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SUM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funksiyasi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yonma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-yon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joylashgan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kataklar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qatorini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qo'shib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chiqishga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imkon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</a:rPr>
              <a:t>beradi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</a:rPr>
              <a:t>. </a:t>
            </a:r>
          </a:p>
          <a:p>
            <a:pPr>
              <a:defRPr/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Agar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bu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elektron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jadvallardagi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barcha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raqamlarni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bir-biriga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qo'shmoqchi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bo'lsangiz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, </a:t>
            </a:r>
          </a:p>
          <a:p>
            <a:pPr>
              <a:defRPr/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formula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quyidagicha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bo'lishi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kerak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: </a:t>
            </a:r>
            <a:r>
              <a:rPr lang="en-US" sz="2400" dirty="0">
                <a:solidFill>
                  <a:srgbClr val="002060"/>
                </a:solidFill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=SUM(A1:A13)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ts val="1700"/>
              </a:lnSpc>
              <a:defRPr/>
            </a:pP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47863" y="3743325"/>
            <a:ext cx="10734675" cy="402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701" name="Image 2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1115675" y="4768850"/>
            <a:ext cx="554038" cy="555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2" name="Text 3"/>
          <p:cNvSpPr>
            <a:spLocks noChangeArrowheads="1"/>
          </p:cNvSpPr>
          <p:nvPr/>
        </p:nvSpPr>
        <p:spPr bwMode="auto">
          <a:xfrm>
            <a:off x="10621963" y="6792913"/>
            <a:ext cx="16192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1650"/>
              </a:lnSpc>
            </a:pPr>
            <a:r>
              <a:rPr lang="en-US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A13)</a:t>
            </a:r>
            <a:endParaRPr lang="en-US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703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9085263" y="4770438"/>
            <a:ext cx="555625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 4"/>
          <p:cNvSpPr/>
          <p:nvPr/>
        </p:nvSpPr>
        <p:spPr>
          <a:xfrm>
            <a:off x="8580438" y="6792913"/>
            <a:ext cx="1619250" cy="312737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algn="ctr" fontAlgn="auto">
              <a:lnSpc>
                <a:spcPts val="16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:</a:t>
            </a:r>
            <a:endParaRPr lang="en-US" sz="1350" dirty="0">
              <a:latin typeface="+mn-lt"/>
              <a:cs typeface="+mn-cs"/>
            </a:endParaRPr>
          </a:p>
        </p:txBody>
      </p:sp>
      <p:pic>
        <p:nvPicPr>
          <p:cNvPr id="29705" name="Image 4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7056438" y="4770438"/>
            <a:ext cx="554037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6" name="Text 5"/>
          <p:cNvSpPr>
            <a:spLocks noChangeArrowheads="1"/>
          </p:cNvSpPr>
          <p:nvPr/>
        </p:nvSpPr>
        <p:spPr bwMode="auto">
          <a:xfrm>
            <a:off x="6551613" y="6792913"/>
            <a:ext cx="16192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1650"/>
              </a:lnSpc>
            </a:pPr>
            <a:r>
              <a:rPr lang="en-US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A1</a:t>
            </a:r>
            <a:endParaRPr lang="en-US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707" name="Image 5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026025" y="4770438"/>
            <a:ext cx="554038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8" name="Text 6"/>
          <p:cNvSpPr>
            <a:spLocks noChangeArrowheads="1"/>
          </p:cNvSpPr>
          <p:nvPr/>
        </p:nvSpPr>
        <p:spPr bwMode="auto">
          <a:xfrm>
            <a:off x="4521200" y="6792913"/>
            <a:ext cx="16192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1650"/>
              </a:lnSpc>
            </a:pPr>
            <a:r>
              <a:rPr lang="en-US" b="1">
                <a:solidFill>
                  <a:srgbClr val="002060"/>
                </a:solidFill>
                <a:latin typeface="Times New Roman" pitchFamily="18" charset="0"/>
                <a:ea typeface="Hubot Sans Bold"/>
                <a:cs typeface="Hubot Sans Bold"/>
              </a:rPr>
              <a:t>SUM(</a:t>
            </a:r>
            <a:endParaRPr lang="en-US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9709" name="Image 6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986088" y="4770438"/>
            <a:ext cx="554037" cy="554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10" name="Text 7"/>
          <p:cNvSpPr>
            <a:spLocks noChangeArrowheads="1"/>
          </p:cNvSpPr>
          <p:nvPr/>
        </p:nvSpPr>
        <p:spPr bwMode="auto">
          <a:xfrm>
            <a:off x="2447925" y="6792913"/>
            <a:ext cx="1619250" cy="312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 algn="ctr">
              <a:lnSpc>
                <a:spcPts val="1650"/>
              </a:lnSpc>
            </a:pPr>
            <a:r>
              <a:rPr lang="en-US" b="1">
                <a:solidFill>
                  <a:srgbClr val="55575A"/>
                </a:solidFill>
                <a:latin typeface="Times New Roman" pitchFamily="18" charset="0"/>
                <a:ea typeface="Hubot Sans Bold"/>
                <a:cs typeface="Hubot Sans Bold"/>
              </a:rPr>
              <a:t>=</a:t>
            </a:r>
            <a:endParaRPr lang="en-US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ext 0"/>
          <p:cNvSpPr>
            <a:spLocks noChangeArrowheads="1"/>
          </p:cNvSpPr>
          <p:nvPr/>
        </p:nvSpPr>
        <p:spPr bwMode="auto">
          <a:xfrm>
            <a:off x="688975" y="541338"/>
            <a:ext cx="9807575" cy="492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850"/>
              </a:lnSpc>
            </a:pPr>
            <a:r>
              <a:rPr lang="en-US" sz="32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ELEKTRON JADVALGA QAYTA ISHLOV BERISH</a:t>
            </a:r>
            <a:endParaRPr lang="en-US" sz="32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3" name="Text 1"/>
          <p:cNvSpPr>
            <a:spLocks noChangeArrowheads="1"/>
          </p:cNvSpPr>
          <p:nvPr/>
        </p:nvSpPr>
        <p:spPr bwMode="auto">
          <a:xfrm>
            <a:off x="688975" y="1101725"/>
            <a:ext cx="8951913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900"/>
              </a:lnSpc>
            </a:pPr>
            <a:r>
              <a:rPr lang="en-US" sz="2400" b="1" dirty="0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5.1-MASHG'ULOT: SUM FUNKSIYASINI AMALDA QO'LLASH</a:t>
            </a:r>
            <a:endParaRPr lang="en-US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8975" y="1727200"/>
            <a:ext cx="13252450" cy="29527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O'qituvchi tomonidan berilgan "usingSUM.xlsx" elektron jadvalini oching.</a:t>
            </a:r>
            <a:endParaRPr lang="en-US" sz="1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9135" y="2214205"/>
            <a:ext cx="6238608" cy="885456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B1 dan B8 gacha kataklardagi barcha raqamlarni </a:t>
            </a:r>
            <a:r>
              <a:rPr lang="en-US" sz="1600" dirty="0" err="1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qo'shish</a:t>
            </a: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</a:t>
            </a:r>
            <a:r>
              <a:rPr lang="en-US" sz="1600" dirty="0" err="1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uchun</a:t>
            </a:r>
            <a:endParaRPr lang="en-US" sz="1600" dirty="0">
              <a:solidFill>
                <a:srgbClr val="7030A0"/>
              </a:solidFill>
              <a:latin typeface="Times New Roman" pitchFamily="18" charset="0"/>
              <a:ea typeface="Roboto Condensed" pitchFamily="34" charset="-122"/>
              <a:cs typeface="Times New Roman" pitchFamily="18" charset="0"/>
            </a:endParaRPr>
          </a:p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B9 katagiga </a:t>
            </a:r>
            <a:r>
              <a:rPr lang="en-US" sz="1600" dirty="0">
                <a:solidFill>
                  <a:srgbClr val="7030A0"/>
                </a:solidFill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=SUM(B1:B8)</a:t>
            </a: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formulasini yozing.</a:t>
            </a:r>
            <a:endParaRPr lang="en-US" sz="1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6" name="Text 4"/>
          <p:cNvSpPr>
            <a:spLocks noChangeArrowheads="1"/>
          </p:cNvSpPr>
          <p:nvPr/>
        </p:nvSpPr>
        <p:spPr bwMode="auto">
          <a:xfrm>
            <a:off x="688975" y="5592763"/>
            <a:ext cx="2954338" cy="369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900"/>
              </a:lnSpc>
            </a:pPr>
            <a:r>
              <a:rPr lang="en-US" sz="2400" b="1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5.2-MASHG'ULOT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688975" y="6219825"/>
            <a:ext cx="13252450" cy="293688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dirty="0">
                <a:solidFill>
                  <a:srgbClr val="7030A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E1 dan M1 gacha kataklarni qo'shish uchun O1 katagiga SUM formulasidan foydalanib formula yozing.</a:t>
            </a:r>
            <a:endParaRPr lang="en-US" sz="16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8" name="Text 6"/>
          <p:cNvSpPr>
            <a:spLocks noChangeArrowheads="1"/>
          </p:cNvSpPr>
          <p:nvPr/>
        </p:nvSpPr>
        <p:spPr bwMode="auto">
          <a:xfrm>
            <a:off x="688975" y="6769100"/>
            <a:ext cx="2954338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900"/>
              </a:lnSpc>
            </a:pPr>
            <a:r>
              <a:rPr lang="en-US" sz="2400" b="1">
                <a:solidFill>
                  <a:srgbClr val="0C0D0F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5.3-MASHG'ULOT</a:t>
            </a:r>
            <a:endParaRPr lang="en-US" sz="24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729" name="Text 7"/>
          <p:cNvSpPr>
            <a:spLocks noChangeArrowheads="1"/>
          </p:cNvSpPr>
          <p:nvPr/>
        </p:nvSpPr>
        <p:spPr bwMode="auto">
          <a:xfrm>
            <a:off x="688975" y="7394575"/>
            <a:ext cx="13252450" cy="295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300"/>
              </a:lnSpc>
            </a:pPr>
            <a:r>
              <a:rPr lang="en-US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E6 dan I8 gacha kataklarni qo'shish uchun I9 katagiga SUM formulasidan foydalanib formula yozing.</a:t>
            </a:r>
          </a:p>
        </p:txBody>
      </p:sp>
      <p:pic>
        <p:nvPicPr>
          <p:cNvPr id="30730" name="Picture 1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396163" y="2224088"/>
            <a:ext cx="6905625" cy="3781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60488" y="474663"/>
            <a:ext cx="4919662" cy="539750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42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7" name="Text 1"/>
          <p:cNvSpPr>
            <a:spLocks noChangeArrowheads="1"/>
          </p:cNvSpPr>
          <p:nvPr/>
        </p:nvSpPr>
        <p:spPr bwMode="auto">
          <a:xfrm>
            <a:off x="1360488" y="1066800"/>
            <a:ext cx="8961437" cy="430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350"/>
              </a:lnSpc>
            </a:pPr>
            <a:r>
              <a:rPr lang="en-US" sz="28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FORMULADAN NUSXA (YOKI NUXSALASH) OLISH</a:t>
            </a:r>
            <a:endParaRPr lang="en-US" sz="28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48" name="Text 2"/>
          <p:cNvSpPr>
            <a:spLocks noChangeArrowheads="1"/>
          </p:cNvSpPr>
          <p:nvPr/>
        </p:nvSpPr>
        <p:spPr bwMode="auto">
          <a:xfrm>
            <a:off x="1360488" y="1695450"/>
            <a:ext cx="11909425" cy="48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Ma'lumotni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bir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joydan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boshqasiga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ko'chirish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mumkin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shuningdek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,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formulalarni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ham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ko'chirish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mumkin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.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Formuladan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nusxa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olganingizda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, u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foydalanuvchi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katak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havolarini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 </a:t>
            </a:r>
            <a:r>
              <a:rPr lang="en-US" sz="2000" dirty="0" err="1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o'zgartiradi</a:t>
            </a:r>
            <a:r>
              <a:rPr lang="en-US" sz="2000" dirty="0">
                <a:solidFill>
                  <a:srgbClr val="002060"/>
                </a:solidFill>
                <a:latin typeface="Times New Roman" pitchFamily="18" charset="0"/>
                <a:ea typeface="NSimSun" pitchFamily="49" charset="-122"/>
                <a:cs typeface="Times New Roman" pitchFamily="18" charset="0"/>
              </a:rPr>
              <a:t>.</a:t>
            </a:r>
          </a:p>
        </p:txBody>
      </p:sp>
      <p:sp>
        <p:nvSpPr>
          <p:cNvPr id="31749" name="Text 3"/>
          <p:cNvSpPr>
            <a:spLocks noChangeArrowheads="1"/>
          </p:cNvSpPr>
          <p:nvPr/>
        </p:nvSpPr>
        <p:spPr bwMode="auto">
          <a:xfrm>
            <a:off x="1360488" y="2378075"/>
            <a:ext cx="3190875" cy="323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500"/>
              </a:lnSpc>
            </a:pPr>
            <a:r>
              <a:rPr lang="en-US" sz="2400" b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1-USUL: COPY VA PASTE</a:t>
            </a:r>
            <a:endParaRPr lang="en-US" sz="24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1750" name="Text 4"/>
          <p:cNvSpPr>
            <a:spLocks noChangeArrowheads="1"/>
          </p:cNvSpPr>
          <p:nvPr/>
        </p:nvSpPr>
        <p:spPr bwMode="auto">
          <a:xfrm>
            <a:off x="1360488" y="2898775"/>
            <a:ext cx="11909425" cy="242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1900"/>
              </a:lnSpc>
            </a:pP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Formula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yozilgan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katakni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masalan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, C2)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belgilang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uskunalar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panelida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Copy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tugmasini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 err="1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bosing</a:t>
            </a:r>
            <a:r>
              <a:rPr lang="en-US" sz="2400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.</a:t>
            </a:r>
          </a:p>
        </p:txBody>
      </p:sp>
      <p:pic>
        <p:nvPicPr>
          <p:cNvPr id="31751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360488" y="3289300"/>
            <a:ext cx="3709987" cy="1965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5"/>
          <p:cNvSpPr/>
          <p:nvPr/>
        </p:nvSpPr>
        <p:spPr>
          <a:xfrm>
            <a:off x="1360170" y="5403056"/>
            <a:ext cx="11909941" cy="250746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19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400" dirty="0">
                <a:solidFill>
                  <a:srgbClr val="55575A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N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usxasini joylamoqchi bo'lgan katakni (C3) tanlang va </a:t>
            </a:r>
            <a:r>
              <a:rPr lang="en-US" b="1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Paste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 tugmasini bosing. Joylagan katakdagi formulada kataklar havolasi o'zgaradi, endi u </a:t>
            </a:r>
            <a:r>
              <a:rPr lang="en-US" dirty="0">
                <a:solidFill>
                  <a:srgbClr val="002060"/>
                </a:solidFill>
                <a:highlight>
                  <a:srgbClr val="DBDBD6"/>
                </a:highlight>
                <a:latin typeface="Times New Roman" pitchFamily="18" charset="0"/>
                <a:ea typeface="Consolas" pitchFamily="34" charset="-122"/>
                <a:cs typeface="Times New Roman" pitchFamily="18" charset="0"/>
              </a:rPr>
              <a:t>=A3+B3</a:t>
            </a:r>
            <a:r>
              <a:rPr lang="en-US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1753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360488" y="5802313"/>
            <a:ext cx="3709987" cy="19573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70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14400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1" name="Text 0"/>
          <p:cNvSpPr>
            <a:spLocks noChangeArrowheads="1"/>
          </p:cNvSpPr>
          <p:nvPr/>
        </p:nvSpPr>
        <p:spPr bwMode="auto">
          <a:xfrm>
            <a:off x="703263" y="1011238"/>
            <a:ext cx="6397625" cy="501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3950"/>
              </a:lnSpc>
            </a:pPr>
            <a:r>
              <a:rPr lang="en-US" sz="36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Times New Roman" pitchFamily="18" charset="0"/>
              </a:rPr>
              <a:t>2-USUL: TO'LDIRISH NUQTASI</a:t>
            </a:r>
            <a:endParaRPr lang="en-US" sz="36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3263" y="1781175"/>
            <a:ext cx="7737475" cy="303213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3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Katakni tanlasangiz, uning pastki o'ng burchagida kichik kvadrat bor. Bu to'ldirish nuqtasi deyiladi.</a:t>
            </a:r>
            <a:endParaRPr lang="en-US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3263" y="2284413"/>
            <a:ext cx="7737475" cy="606425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23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600" b="1" dirty="0">
                <a:solidFill>
                  <a:srgbClr val="002060"/>
                </a:solidFill>
                <a:latin typeface="Times New Roman" pitchFamily="18" charset="0"/>
                <a:ea typeface="Roboto Condensed" pitchFamily="34" charset="-122"/>
                <a:cs typeface="Times New Roman" pitchFamily="18" charset="0"/>
              </a:rPr>
              <a:t>Sichqonchaning chap tugmasini to'ldirish nuqtasi ustida bosib, kursorni ko'chirmoqchi bo'lgan katagingizga siljiting. Sichqoncha tugmasini qo'yib yuborsangiz, formuladan nusxa olinadi.</a:t>
            </a:r>
            <a:endParaRPr lang="en-US" sz="16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774" name="Image 1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37694" y="3090863"/>
            <a:ext cx="4868862" cy="26431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2775" name="Shape 3"/>
          <p:cNvSpPr>
            <a:spLocks noChangeArrowheads="1"/>
          </p:cNvSpPr>
          <p:nvPr/>
        </p:nvSpPr>
        <p:spPr bwMode="auto">
          <a:xfrm>
            <a:off x="501650" y="6576219"/>
            <a:ext cx="7737475" cy="1284288"/>
          </a:xfrm>
          <a:prstGeom prst="roundRect">
            <a:avLst>
              <a:gd name="adj" fmla="val 2347"/>
            </a:avLst>
          </a:prstGeom>
          <a:solidFill>
            <a:srgbClr val="DBDBD6"/>
          </a:solidFill>
          <a:ln w="9525">
            <a:noFill/>
            <a:round/>
            <a:headEnd/>
            <a:tailEnd/>
          </a:ln>
        </p:spPr>
        <p:txBody>
          <a:bodyPr/>
          <a:lstStyle/>
          <a:p>
            <a:endParaRPr lang="ru-RU" sz="200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32776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904875" y="6194425"/>
            <a:ext cx="312738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 4"/>
          <p:cNvSpPr/>
          <p:nvPr/>
        </p:nvSpPr>
        <p:spPr>
          <a:xfrm>
            <a:off x="1419225" y="6162675"/>
            <a:ext cx="2511425" cy="314325"/>
          </a:xfrm>
          <a:prstGeom prst="rect">
            <a:avLst/>
          </a:prstGeom>
          <a:noFill/>
          <a:ln/>
        </p:spPr>
        <p:txBody>
          <a:bodyPr wrap="none" lIns="0" tIns="0" rIns="0" bIns="0"/>
          <a:lstStyle/>
          <a:p>
            <a:pPr fontAlgn="auto">
              <a:lnSpc>
                <a:spcPts val="245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7030A0"/>
                </a:solidFill>
                <a:latin typeface="Times New Roman" pitchFamily="18" charset="0"/>
                <a:ea typeface="Hubot Sans Bold" pitchFamily="34" charset="-122"/>
                <a:cs typeface="Times New Roman" pitchFamily="18" charset="0"/>
              </a:rPr>
              <a:t>MASLAHAT</a:t>
            </a:r>
            <a:endParaRPr lang="en-US" sz="2000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2778" name="Text 5"/>
          <p:cNvSpPr>
            <a:spLocks noChangeArrowheads="1"/>
          </p:cNvSpPr>
          <p:nvPr/>
        </p:nvSpPr>
        <p:spPr bwMode="auto">
          <a:xfrm>
            <a:off x="1419225" y="6654800"/>
            <a:ext cx="6819900" cy="303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/>
          <a:lstStyle/>
          <a:p>
            <a:pPr>
              <a:lnSpc>
                <a:spcPts val="2350"/>
              </a:lnSpc>
            </a:pPr>
            <a:r>
              <a:rPr lang="en-US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To'ldirish nuqtasidan faqatgina kataklar yonma-yon bo'lganda foydalana olasiz.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9497" y="245955"/>
            <a:ext cx="13141824" cy="76581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94" name="Image 0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5486400" cy="822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5" name="Text 0"/>
          <p:cNvSpPr>
            <a:spLocks noChangeArrowheads="1"/>
          </p:cNvSpPr>
          <p:nvPr/>
        </p:nvSpPr>
        <p:spPr bwMode="auto">
          <a:xfrm>
            <a:off x="6280150" y="2544763"/>
            <a:ext cx="7556500" cy="1133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4450"/>
              </a:lnSpc>
            </a:pPr>
            <a:r>
              <a:rPr lang="en-US" sz="3600" b="1" i="1" dirty="0">
                <a:solidFill>
                  <a:srgbClr val="7030A0"/>
                </a:solidFill>
                <a:latin typeface="Times New Roman" pitchFamily="18" charset="0"/>
                <a:ea typeface="Hubot Sans Bold"/>
                <a:cs typeface="Hubot Sans Bold"/>
              </a:rPr>
              <a:t>ELEKTRON JADVALGA QAYTA ISHLOV BERISH</a:t>
            </a:r>
            <a:endParaRPr lang="en-US" sz="3600" i="1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50" y="3768725"/>
            <a:ext cx="7556500" cy="850900"/>
          </a:xfrm>
          <a:prstGeom prst="rect">
            <a:avLst/>
          </a:prstGeom>
          <a:noFill/>
          <a:ln/>
        </p:spPr>
        <p:txBody>
          <a:bodyPr lIns="0" tIns="0" rIns="0" bIns="0"/>
          <a:lstStyle/>
          <a:p>
            <a:pPr fontAlgn="auto">
              <a:lnSpc>
                <a:spcPts val="33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650" b="1" dirty="0">
                <a:solidFill>
                  <a:srgbClr val="002060"/>
                </a:solidFill>
                <a:latin typeface="Arial Black" pitchFamily="34" charset="0"/>
                <a:ea typeface="Hubot Sans Bold" pitchFamily="34" charset="-122"/>
                <a:cs typeface="Hubot Sans Bold" pitchFamily="34" charset="-120"/>
              </a:rPr>
              <a:t>6.1-MASHG'ULOT: FORMULALARNI NUSXALASH</a:t>
            </a:r>
            <a:endParaRPr lang="en-US" sz="2650" dirty="0">
              <a:solidFill>
                <a:srgbClr val="002060"/>
              </a:solidFill>
              <a:latin typeface="Arial Black" pitchFamily="34" charset="0"/>
              <a:cs typeface="+mn-cs"/>
            </a:endParaRPr>
          </a:p>
        </p:txBody>
      </p:sp>
      <p:sp>
        <p:nvSpPr>
          <p:cNvPr id="33797" name="Text 2"/>
          <p:cNvSpPr>
            <a:spLocks noChangeArrowheads="1"/>
          </p:cNvSpPr>
          <p:nvPr/>
        </p:nvSpPr>
        <p:spPr bwMode="auto">
          <a:xfrm>
            <a:off x="6280150" y="4797425"/>
            <a:ext cx="7556500" cy="137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C2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katakdagi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formula A2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va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B2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katak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qiymatlarini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qo'shadi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. Bu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formuladan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</a:rPr>
              <a:t>Copy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va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</a:rPr>
              <a:t>Paste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tugmalari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yordamida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C3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katagiga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nusxa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 </a:t>
            </a:r>
            <a:r>
              <a:rPr lang="en-US" sz="2400" dirty="0" err="1">
                <a:solidFill>
                  <a:schemeClr val="bg1"/>
                </a:solidFill>
                <a:latin typeface="Times New Roman" pitchFamily="18" charset="0"/>
              </a:rPr>
              <a:t>oling</a:t>
            </a:r>
            <a:r>
              <a:rPr lang="en-US" sz="2400" dirty="0">
                <a:solidFill>
                  <a:schemeClr val="bg1"/>
                </a:solidFill>
                <a:latin typeface="Times New Roman" pitchFamily="18" charset="0"/>
              </a:rPr>
              <a:t>.</a:t>
            </a:r>
            <a:endParaRPr lang="en-US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30426" y="368973"/>
            <a:ext cx="13287052" cy="73347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Содержимое 1"/>
          <p:cNvSpPr>
            <a:spLocks noGrp="1"/>
          </p:cNvSpPr>
          <p:nvPr>
            <p:ph idx="1"/>
          </p:nvPr>
        </p:nvSpPr>
        <p:spPr>
          <a:xfrm>
            <a:off x="731838" y="495300"/>
            <a:ext cx="13166725" cy="6819900"/>
          </a:xfrm>
        </p:spPr>
        <p:txBody>
          <a:bodyPr/>
          <a:lstStyle/>
          <a:p>
            <a:pPr eaLnBrk="1" hangingPunct="1"/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6.2-mashg‘ulot C3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olgan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formulangizdan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C4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C5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Toʻldirish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nuqtasidan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eaLnBrk="1" hangingPunct="1"/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6.3-mashg‘ulot H2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katakdagi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F2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G2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qiymatlarini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koʻpaytiradi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Bu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Copy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Paste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tugmalari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yordamida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H3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eaLnBrk="1" hangingPunct="1"/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6.4-mashg‘ulot H3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olgan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formulangizdan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H4, H5, H6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H7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ham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Toʻldirish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nuqtasidan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69582" y="568270"/>
            <a:ext cx="10750093" cy="6939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/>
          <p:cNvSpPr>
            <a:spLocks noGrp="1"/>
          </p:cNvSpPr>
          <p:nvPr>
            <p:ph type="title"/>
          </p:nvPr>
        </p:nvSpPr>
        <p:spPr>
          <a:xfrm>
            <a:off x="731838" y="182563"/>
            <a:ext cx="13166725" cy="2204176"/>
          </a:xfrm>
        </p:spPr>
        <p:txBody>
          <a:bodyPr>
            <a:noAutofit/>
          </a:bodyPr>
          <a:lstStyle/>
          <a:p>
            <a:pPr algn="ctr"/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6.5-mashg‘ulot L4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katagidagi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formula L1-L2-L3. Bu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formuladan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M4, N4, O4, P4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va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Q4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kataklariga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nusxa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oling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Toʻldirish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nuqtasidan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400" dirty="0" err="1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foydalaning</a:t>
            </a:r>
            <a:r>
              <a:rPr lang="en-US" sz="44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endParaRPr lang="ru-RU" sz="4400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731838" y="3523456"/>
            <a:ext cx="13002434" cy="3993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85310" y="786861"/>
            <a:ext cx="12415191" cy="68520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Бумажная">
  <a:themeElements>
    <a:clrScheme name="Бумажная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Бумажная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Бумажная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98</TotalTime>
  <Words>675</Words>
  <Application>Microsoft Office PowerPoint</Application>
  <PresentationFormat>Произвольный</PresentationFormat>
  <Paragraphs>81</Paragraphs>
  <Slides>18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10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9" baseType="lpstr">
      <vt:lpstr>Arial</vt:lpstr>
      <vt:lpstr>Times New Roman</vt:lpstr>
      <vt:lpstr>Wingdings 2</vt:lpstr>
      <vt:lpstr>Constantia</vt:lpstr>
      <vt:lpstr>Hubot Sans Bold</vt:lpstr>
      <vt:lpstr>NSimSun</vt:lpstr>
      <vt:lpstr>Roboto Condensed</vt:lpstr>
      <vt:lpstr>Consolas</vt:lpstr>
      <vt:lpstr>Arial Black</vt:lpstr>
      <vt:lpstr>Calibri</vt:lpstr>
      <vt:lpstr>Бумажная</vt:lpstr>
      <vt:lpstr>6-sinf  Informatika va axborot texnologiyalari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6.5-mashg‘ulot L4 katagidagi formula L1-L2-L3. Bu formuladan M4, N4, O4, P4 va Q4 kataklariga nusxa oling. Toʻldirish nuqtasidan foydalaning.</vt:lpstr>
      <vt:lpstr>Слайд 18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Пользователь</dc:creator>
  <cp:lastModifiedBy>Пользователь</cp:lastModifiedBy>
  <cp:revision>16</cp:revision>
  <dcterms:created xsi:type="dcterms:W3CDTF">2026-01-30T16:13:31Z</dcterms:created>
  <dcterms:modified xsi:type="dcterms:W3CDTF">2026-02-17T12:47:06Z</dcterms:modified>
</cp:coreProperties>
</file>