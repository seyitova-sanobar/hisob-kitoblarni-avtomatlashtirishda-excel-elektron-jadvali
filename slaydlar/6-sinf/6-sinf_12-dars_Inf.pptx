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6"/>
  </p:notesMasterIdLst>
  <p:sldIdLst>
    <p:sldId id="266" r:id="rId2"/>
    <p:sldId id="256" r:id="rId3"/>
    <p:sldId id="257" r:id="rId4"/>
    <p:sldId id="258" r:id="rId5"/>
    <p:sldId id="267" r:id="rId6"/>
    <p:sldId id="269" r:id="rId7"/>
    <p:sldId id="270" r:id="rId8"/>
    <p:sldId id="271" r:id="rId9"/>
    <p:sldId id="261" r:id="rId10"/>
    <p:sldId id="262" r:id="rId11"/>
    <p:sldId id="268" r:id="rId12"/>
    <p:sldId id="263" r:id="rId13"/>
    <p:sldId id="264" r:id="rId14"/>
    <p:sldId id="265" r:id="rId15"/>
  </p:sldIdLst>
  <p:sldSz cx="14630400" cy="8229600"/>
  <p:notesSz cx="8229600" cy="14630400"/>
  <p:embeddedFontLst>
    <p:embeddedFont>
      <p:font typeface="Wingdings 2" pitchFamily="18" charset="2"/>
      <p:regular r:id="rId17"/>
    </p:embeddedFont>
    <p:embeddedFont>
      <p:font typeface="Constantia" pitchFamily="18" charset="0"/>
      <p:regular r:id="rId18"/>
      <p:bold r:id="rId19"/>
      <p:italic r:id="rId20"/>
      <p:boldItalic r:id="rId21"/>
    </p:embeddedFont>
    <p:embeddedFont>
      <p:font typeface="Roboto Condensed" charset="0"/>
      <p:regular r:id="rId22"/>
    </p:embeddedFont>
    <p:embeddedFont>
      <p:font typeface="Arial Black" pitchFamily="34" charset="0"/>
      <p:bold r:id="rId23"/>
    </p:embeddedFont>
    <p:embeddedFont>
      <p:font typeface="Calibri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-564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0A422B5-EDF1-4E3F-AE2F-DB90C91BA73B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0998CCA-4F75-47A6-BFC2-6A456F71B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ADB279-D883-4A8A-86D6-0B71A9DB53B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A828D2-DAEE-457D-8D0E-99BD3A0D4DB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27E42A-13A4-4BBD-A93C-FE3085BC223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4819D3-768F-4C1E-9050-F0BEBF338E5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17798A-2BCA-48BE-95C5-0C38D338B98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71AF86-FC63-4F2E-86F0-E339717C0B9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15EA57F-880A-40C3-88E8-DE469686CAE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46131C7-5AF9-47EC-ABB0-F174AD33BD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2341563" y="4260850"/>
            <a:ext cx="4754562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7534275" y="4260850"/>
            <a:ext cx="4754563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7264400" y="4232275"/>
            <a:ext cx="73025" cy="53975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731520" y="4439765"/>
            <a:ext cx="13289280" cy="1371600"/>
          </a:xfrm>
        </p:spPr>
        <p:txBody>
          <a:bodyPr>
            <a:noAutofit/>
          </a:bodyPr>
          <a:lstStyle>
            <a:lvl1pPr marL="0" indent="0" algn="ctr">
              <a:buNone/>
              <a:defRPr sz="3100" spc="143" baseline="0">
                <a:solidFill>
                  <a:schemeClr val="tx2"/>
                </a:solidFill>
              </a:defRPr>
            </a:lvl1pPr>
            <a:lvl2pPr marL="653110" indent="0" algn="ctr">
              <a:buNone/>
            </a:lvl2pPr>
            <a:lvl3pPr marL="1306220" indent="0" algn="ctr">
              <a:buNone/>
            </a:lvl3pPr>
            <a:lvl4pPr marL="1959331" indent="0" algn="ctr">
              <a:buNone/>
            </a:lvl4pPr>
            <a:lvl5pPr marL="2612441" indent="0" algn="ctr">
              <a:buNone/>
            </a:lvl5pPr>
            <a:lvl6pPr marL="3265551" indent="0" algn="ctr">
              <a:buNone/>
            </a:lvl6pPr>
            <a:lvl7pPr marL="3918661" indent="0" algn="ctr">
              <a:buNone/>
            </a:lvl7pPr>
            <a:lvl8pPr marL="4571771" indent="0" algn="ctr">
              <a:buNone/>
            </a:lvl8pPr>
            <a:lvl9pPr marL="5224882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731520" y="1720478"/>
            <a:ext cx="13289280" cy="237744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69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6E0D7-B754-4CE4-817B-8BDEE0101D95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8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5D3DE-A9B4-40AB-9065-C395C23E23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731520" y="1828800"/>
            <a:ext cx="13167360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7E713-D443-4511-8D75-A3B9EEF11631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91DA0-4207-4BB9-868A-13DAAA750E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1096963" y="5900738"/>
            <a:ext cx="12679362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4206240"/>
            <a:ext cx="12679680" cy="164592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69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5950637"/>
            <a:ext cx="12679680" cy="1181683"/>
          </a:xfrm>
        </p:spPr>
        <p:txBody>
          <a:bodyPr/>
          <a:lstStyle>
            <a:lvl1pPr marL="0" indent="0">
              <a:buNone/>
              <a:defRPr sz="2900" spc="143" baseline="0">
                <a:solidFill>
                  <a:schemeClr val="tx2"/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86153-A15F-447A-A6FB-15D94EB6F45D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33654-D61B-4F08-8381-9189BEF8D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7315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74371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67A4-6DA6-4B9E-AE11-C57DBEC9943B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860EC-1383-4B01-90AF-B6A9BDA127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/>
          <p:cNvCxnSpPr/>
          <p:nvPr/>
        </p:nvCxnSpPr>
        <p:spPr>
          <a:xfrm>
            <a:off x="900113" y="2616200"/>
            <a:ext cx="5999162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7607300" y="2616200"/>
            <a:ext cx="5999163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15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731520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7439661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20" y="186538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74371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 baseline="0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A4FB3-39E1-4BBA-8F10-BFEA5C70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Дата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6891F-B428-43D1-A01A-8E0DC14497FD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CD03A-829B-4AF7-BD32-8A70C994D55F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48C26-E53F-477D-9003-0476646049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7DB6E-48D8-45AF-A14C-D3BF0692FB5B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3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786CE-5390-4527-9911-00DA0E9044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731520" y="548640"/>
            <a:ext cx="9997440" cy="6858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0850880" y="1920240"/>
            <a:ext cx="3174797" cy="448056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None/>
              <a:defRPr sz="2300">
                <a:solidFill>
                  <a:schemeClr val="tx2"/>
                </a:solidFill>
              </a:defRPr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10850880" y="548640"/>
            <a:ext cx="316992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82CD6-7249-4B9F-810C-CCD2EF88B106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33CDA-AF35-4685-9242-0D62275F4C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07040" y="548640"/>
            <a:ext cx="329184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31520" y="548640"/>
            <a:ext cx="9631680" cy="667512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4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607040" y="1920240"/>
            <a:ext cx="3291840" cy="530352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FontTx/>
              <a:buNone/>
              <a:defRPr sz="2300" b="0">
                <a:solidFill>
                  <a:schemeClr val="tx2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49018-5920-4974-8B24-AE704EBB6475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9F14D-B9CB-415A-BE50-79A42BDE9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7DA3B-9A5B-4DB7-A974-E7A75613B804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47DBE-2B14-4E20-AEB1-67692BD85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7ED2E-F6FF-4CB9-90B3-E59AA4C9BEC5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00ABA-8A3D-4A28-82B9-75BC3A0EAA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Текст 8"/>
          <p:cNvSpPr>
            <a:spLocks noGrp="1"/>
          </p:cNvSpPr>
          <p:nvPr>
            <p:ph type="body" idx="1"/>
          </p:nvPr>
        </p:nvSpPr>
        <p:spPr bwMode="auto">
          <a:xfrm>
            <a:off x="731838" y="1736725"/>
            <a:ext cx="13166725" cy="561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9266238" y="7443788"/>
            <a:ext cx="4144962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14DEC3D-3F48-41FD-8836-54C88C9C3D0F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3413125" y="7443788"/>
            <a:ext cx="5730875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3457238" y="7418388"/>
            <a:ext cx="974725" cy="547687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2300" baseline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E969F2C-9BC7-4FF0-947E-66D80A315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838" y="182563"/>
            <a:ext cx="13166725" cy="1463675"/>
          </a:xfrm>
          <a:prstGeom prst="rect">
            <a:avLst/>
          </a:prstGeom>
          <a:ln w="6350" cap="rnd">
            <a:noFill/>
          </a:ln>
        </p:spPr>
        <p:txBody>
          <a:bodyPr vert="horz" lIns="130622" tIns="65311" rIns="130622" bIns="65311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791" r:id="rId2"/>
    <p:sldLayoutId id="2147483800" r:id="rId3"/>
    <p:sldLayoutId id="2147483792" r:id="rId4"/>
    <p:sldLayoutId id="2147483801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6000" kern="1200" spc="-143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9pPr>
    </p:titleStyle>
    <p:bodyStyle>
      <a:lvl1pPr marL="390525" indent="-390525" algn="l" rtl="0" eaLnBrk="0" fontAlgn="base" hangingPunct="0">
        <a:spcBef>
          <a:spcPts val="863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912813" indent="-390525" algn="l" rtl="0" eaLnBrk="0" fontAlgn="base" hangingPunct="0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3400" kern="1200">
          <a:solidFill>
            <a:schemeClr val="tx2"/>
          </a:solidFill>
          <a:latin typeface="+mn-lt"/>
          <a:ea typeface="+mn-ea"/>
          <a:cs typeface="+mn-cs"/>
        </a:defRPr>
      </a:lvl2pPr>
      <a:lvl3pPr marL="1436688" indent="-325438" algn="l" rtl="0" eaLnBrk="0" fontAlgn="base" hangingPunct="0">
        <a:spcBef>
          <a:spcPts val="425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325438" algn="l" rtl="0" eaLnBrk="0" fontAlgn="base" hangingPunct="0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219325" indent="-325438" algn="l" rtl="0" eaLnBrk="0" fontAlgn="base" hangingPunct="0">
        <a:spcBef>
          <a:spcPts val="48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612441" indent="-326555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685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3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65551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731838" y="4440238"/>
            <a:ext cx="13288962" cy="2503487"/>
          </a:xfrm>
        </p:spPr>
        <p:txBody>
          <a:bodyPr/>
          <a:lstStyle/>
          <a:p>
            <a:pPr>
              <a:defRPr/>
            </a:pPr>
            <a:r>
              <a:rPr lang="en-US" sz="72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7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72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ru-RU" sz="7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72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ru-RU" sz="7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72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Amaliy</a:t>
            </a:r>
            <a:r>
              <a:rPr lang="ru-RU" sz="7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7200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mashg'ulot</a:t>
            </a:r>
            <a:endParaRPr lang="ru-RU" sz="7200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31520" y="681925"/>
            <a:ext cx="13289280" cy="3415993"/>
          </a:xfrm>
        </p:spPr>
        <p:txBody>
          <a:bodyPr/>
          <a:lstStyle/>
          <a:p>
            <a:pPr>
              <a:defRPr/>
            </a:pPr>
            <a:r>
              <a:rPr b="1" i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br>
              <a:rPr b="1" i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b="1" i="1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b="1" i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b="1" i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b="1" i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0"/>
          <p:cNvSpPr/>
          <p:nvPr/>
        </p:nvSpPr>
        <p:spPr>
          <a:xfrm>
            <a:off x="793750" y="2873375"/>
            <a:ext cx="7556500" cy="141763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50" b="1" i="1" dirty="0">
                <a:solidFill>
                  <a:srgbClr val="0C0D0F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SHOKOLAD DO'KONI SSENARIYSI</a:t>
            </a:r>
            <a:endParaRPr lang="en-US" sz="445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0" name="Text 1"/>
          <p:cNvSpPr>
            <a:spLocks noChangeArrowheads="1"/>
          </p:cNvSpPr>
          <p:nvPr/>
        </p:nvSpPr>
        <p:spPr bwMode="auto">
          <a:xfrm>
            <a:off x="793750" y="4630738"/>
            <a:ext cx="7556500" cy="133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Tasavvur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qiling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siz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shokolad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do'koni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egasisiz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.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Shokolad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tayyorlash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xarajatlari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,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sotuvlar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va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foydani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elektron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jadvallar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yordamida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Times New Roman" pitchFamily="18" charset="0"/>
              </a:rPr>
              <a:t>aniqlaymiz</a:t>
            </a:r>
            <a:r>
              <a:rPr lang="en-US" sz="2400" b="1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sz="24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2486025"/>
            <a:ext cx="7697788" cy="70961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0C0D0F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ASOSIY TUSHUNCHALAR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3" name="Shape 1"/>
          <p:cNvSpPr>
            <a:spLocks noChangeArrowheads="1"/>
          </p:cNvSpPr>
          <p:nvPr/>
        </p:nvSpPr>
        <p:spPr bwMode="auto">
          <a:xfrm>
            <a:off x="793750" y="3649663"/>
            <a:ext cx="4195763" cy="2093912"/>
          </a:xfrm>
          <a:prstGeom prst="roundRect">
            <a:avLst>
              <a:gd name="adj" fmla="val 698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64" name="Shape 2"/>
          <p:cNvSpPr>
            <a:spLocks noChangeArrowheads="1"/>
          </p:cNvSpPr>
          <p:nvPr/>
        </p:nvSpPr>
        <p:spPr bwMode="auto">
          <a:xfrm>
            <a:off x="763588" y="3649663"/>
            <a:ext cx="122237" cy="209391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65" name="Text 3"/>
          <p:cNvSpPr>
            <a:spLocks noChangeArrowheads="1"/>
          </p:cNvSpPr>
          <p:nvPr/>
        </p:nvSpPr>
        <p:spPr bwMode="auto">
          <a:xfrm>
            <a:off x="1143000" y="3906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55575A"/>
                </a:solidFill>
                <a:latin typeface="Times New Roman" pitchFamily="18" charset="0"/>
                <a:ea typeface="Hubot Sans Bold"/>
                <a:cs typeface="Hubot Sans Bold"/>
              </a:rPr>
              <a:t>XARAJATLAR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4397375"/>
            <a:ext cx="3589338" cy="108743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Kompaniya sarf qiluvchi miqdor (masalan, shokolad ishlab chiqarish uchun).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7" name="Shape 5"/>
          <p:cNvSpPr>
            <a:spLocks noChangeArrowheads="1"/>
          </p:cNvSpPr>
          <p:nvPr/>
        </p:nvSpPr>
        <p:spPr bwMode="auto">
          <a:xfrm>
            <a:off x="5216525" y="3649663"/>
            <a:ext cx="4197350" cy="2093912"/>
          </a:xfrm>
          <a:prstGeom prst="roundRect">
            <a:avLst>
              <a:gd name="adj" fmla="val 698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68" name="Shape 6"/>
          <p:cNvSpPr>
            <a:spLocks noChangeArrowheads="1"/>
          </p:cNvSpPr>
          <p:nvPr/>
        </p:nvSpPr>
        <p:spPr bwMode="auto">
          <a:xfrm>
            <a:off x="5186363" y="3649663"/>
            <a:ext cx="122237" cy="209391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69" name="Text 7"/>
          <p:cNvSpPr>
            <a:spLocks noChangeArrowheads="1"/>
          </p:cNvSpPr>
          <p:nvPr/>
        </p:nvSpPr>
        <p:spPr bwMode="auto">
          <a:xfrm>
            <a:off x="5565775" y="3906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Times New Roman" pitchFamily="18" charset="0"/>
                <a:ea typeface="Hubot Sans Bold"/>
                <a:cs typeface="Hubot Sans Bold"/>
              </a:rPr>
              <a:t>DAROMAD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5775" y="4397375"/>
            <a:ext cx="3590925" cy="108743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Siz oladigan pul miqdori (sotilgan shokoladlar soni * har bir shokoladning sotuv narxi).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71" name="Shape 9"/>
          <p:cNvSpPr>
            <a:spLocks noChangeArrowheads="1"/>
          </p:cNvSpPr>
          <p:nvPr/>
        </p:nvSpPr>
        <p:spPr bwMode="auto">
          <a:xfrm>
            <a:off x="9640888" y="3649663"/>
            <a:ext cx="4195762" cy="2093912"/>
          </a:xfrm>
          <a:prstGeom prst="roundRect">
            <a:avLst>
              <a:gd name="adj" fmla="val 6986"/>
            </a:avLst>
          </a:prstGeom>
          <a:solidFill>
            <a:srgbClr val="E8E8E3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72" name="Shape 10"/>
          <p:cNvSpPr>
            <a:spLocks noChangeArrowheads="1"/>
          </p:cNvSpPr>
          <p:nvPr/>
        </p:nvSpPr>
        <p:spPr bwMode="auto">
          <a:xfrm>
            <a:off x="9609138" y="3649663"/>
            <a:ext cx="122237" cy="2093912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/>
          </a:p>
        </p:txBody>
      </p:sp>
      <p:sp>
        <p:nvSpPr>
          <p:cNvPr id="15373" name="Text 11"/>
          <p:cNvSpPr>
            <a:spLocks noChangeArrowheads="1"/>
          </p:cNvSpPr>
          <p:nvPr/>
        </p:nvSpPr>
        <p:spPr bwMode="auto">
          <a:xfrm>
            <a:off x="9988550" y="3906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55575A"/>
                </a:solidFill>
                <a:latin typeface="Times New Roman" pitchFamily="18" charset="0"/>
                <a:ea typeface="Hubot Sans Bold"/>
                <a:cs typeface="Hubot Sans Bold"/>
              </a:rPr>
              <a:t>FOYDA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88550" y="4397375"/>
            <a:ext cx="3590925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Sizda qoladigan pul miqdori (daromad - xarajatlar).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0"/>
          <p:cNvSpPr>
            <a:spLocks noChangeArrowheads="1"/>
          </p:cNvSpPr>
          <p:nvPr/>
        </p:nvSpPr>
        <p:spPr bwMode="auto">
          <a:xfrm>
            <a:off x="1292225" y="517525"/>
            <a:ext cx="1204595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4250"/>
              </a:lnSpc>
            </a:pPr>
            <a:r>
              <a:rPr lang="en-US" sz="3400" b="1" dirty="0">
                <a:solidFill>
                  <a:srgbClr val="0C0D0F"/>
                </a:solidFill>
                <a:latin typeface="Times New Roman" pitchFamily="18" charset="0"/>
                <a:ea typeface="Hubot Sans Bold"/>
                <a:cs typeface="Hubot Sans Bold"/>
              </a:rPr>
              <a:t>ELEKTRON JADVALGA QAYTA ISHLOV BERISH:</a:t>
            </a:r>
          </a:p>
          <a:p>
            <a:pPr>
              <a:lnSpc>
                <a:spcPts val="4250"/>
              </a:lnSpc>
            </a:pPr>
            <a:r>
              <a:rPr lang="en-US" sz="3400" b="1" dirty="0">
                <a:solidFill>
                  <a:srgbClr val="0C0D0F"/>
                </a:solidFill>
                <a:latin typeface="Times New Roman" pitchFamily="18" charset="0"/>
                <a:ea typeface="Hubot Sans Bold"/>
                <a:cs typeface="Hubot Sans Bold"/>
              </a:rPr>
              <a:t> 1-MASHG'ULOT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7" name="Text 1"/>
          <p:cNvSpPr>
            <a:spLocks noChangeArrowheads="1"/>
          </p:cNvSpPr>
          <p:nvPr/>
        </p:nvSpPr>
        <p:spPr bwMode="auto">
          <a:xfrm>
            <a:off x="1292225" y="1876425"/>
            <a:ext cx="1204595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O'qituvchi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beradigan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"chocolateshop.xlsx"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elektron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jadvalini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oching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.</a:t>
            </a:r>
          </a:p>
          <a:p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Quyidagi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yorliqlarni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tegishli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kataklarga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 </a:t>
            </a:r>
            <a:r>
              <a:rPr lang="en-US" sz="2800" dirty="0" err="1">
                <a:solidFill>
                  <a:srgbClr val="55575A"/>
                </a:solidFill>
                <a:latin typeface="Times New Roman" pitchFamily="18" charset="0"/>
              </a:rPr>
              <a:t>qo'shing</a:t>
            </a:r>
            <a:r>
              <a:rPr lang="en-US" sz="2800" dirty="0">
                <a:solidFill>
                  <a:srgbClr val="55575A"/>
                </a:solidFill>
                <a:latin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8" name="Text 2"/>
          <p:cNvSpPr>
            <a:spLocks noChangeArrowheads="1"/>
          </p:cNvSpPr>
          <p:nvPr/>
        </p:nvSpPr>
        <p:spPr bwMode="auto">
          <a:xfrm>
            <a:off x="1292225" y="3130550"/>
            <a:ext cx="11090275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42900" indent="-342900">
              <a:buSzPct val="100000"/>
            </a:pP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jadvalingizda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saqlanishi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342900" indent="-342900">
              <a:buSzPct val="100000"/>
              <a:buFont typeface="Wingdings" pitchFamily="2" charset="2"/>
              <a:buChar char="v"/>
            </a:pP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sotadigan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shokoladlar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342900" indent="-342900">
              <a:buSzPct val="100000"/>
              <a:buFont typeface="Wingdings" pitchFamily="2" charset="2"/>
              <a:buChar char="v"/>
            </a:pP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oladigan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>
              <a:buSzPct val="100000"/>
              <a:buFont typeface="Wingdings" pitchFamily="2" charset="2"/>
              <a:buChar char="v"/>
            </a:pP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shokoladning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sotadigan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342900" indent="-342900">
              <a:buSzPct val="100000"/>
              <a:buFont typeface="Wingdings" pitchFamily="2" charset="2"/>
              <a:buChar char="v"/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shokoladdan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nechtadan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 marL="342900" indent="-342900">
              <a:buSzPct val="100000"/>
              <a:buFont typeface="Wingdings" pitchFamily="2" charset="2"/>
              <a:buChar char="v"/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SzPct val="100000"/>
              <a:buFont typeface="Arial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A9: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Umumiy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xarajatlar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Font typeface="Arial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A10: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Umumiy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daromad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Font typeface="Arial" pitchFamily="34" charset="0"/>
              <a:buChar char="•"/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A11: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Foyda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Shape 3"/>
          <p:cNvSpPr>
            <a:spLocks noChangeArrowheads="1"/>
          </p:cNvSpPr>
          <p:nvPr/>
        </p:nvSpPr>
        <p:spPr bwMode="auto">
          <a:xfrm>
            <a:off x="1292225" y="6986588"/>
            <a:ext cx="12045950" cy="631825"/>
          </a:xfrm>
          <a:prstGeom prst="roundRect">
            <a:avLst>
              <a:gd name="adj" fmla="val 4134"/>
            </a:avLst>
          </a:prstGeom>
          <a:solidFill>
            <a:srgbClr val="DBDBD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16390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6850" y="7226300"/>
            <a:ext cx="219075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4"/>
          <p:cNvSpPr/>
          <p:nvPr/>
        </p:nvSpPr>
        <p:spPr>
          <a:xfrm>
            <a:off x="1860550" y="7164388"/>
            <a:ext cx="11303000" cy="2460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Ustunlar </a:t>
            </a:r>
            <a:r>
              <a:rPr lang="en-US" sz="1400" dirty="0" err="1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kengligini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o'zgartirish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uchun ustun harflari orasidagi chiziqni torting.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Содержимое 1"/>
          <p:cNvSpPr>
            <a:spLocks noGrp="1"/>
          </p:cNvSpPr>
          <p:nvPr>
            <p:ph idx="1"/>
          </p:nvPr>
        </p:nvSpPr>
        <p:spPr>
          <a:xfrm>
            <a:off x="731838" y="1828800"/>
            <a:ext cx="7978775" cy="5486400"/>
          </a:xfrm>
        </p:spPr>
        <p:txBody>
          <a:bodyPr/>
          <a:lstStyle/>
          <a:p>
            <a:r>
              <a:rPr lang="en-US" sz="32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Doʻkoningizda toʻrt xil turli shokolad sotasiz. Jadvalda quyidagilar aks etgan: </a:t>
            </a:r>
          </a:p>
          <a:p>
            <a:r>
              <a:rPr lang="en-US" sz="32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• har bir shokoladning nomi; </a:t>
            </a:r>
          </a:p>
          <a:p>
            <a:r>
              <a:rPr lang="en-US" sz="32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• har bir shokolad uchun siz toʻlagan miqdor (sotib olish narxi); </a:t>
            </a:r>
          </a:p>
          <a:p>
            <a:r>
              <a:rPr lang="en-US" sz="32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• siz sotgan har bir shokolad narxi (sotish narxi). Sotib olish narxi va sotish narxini B va C ustunlarga yozing.</a:t>
            </a:r>
            <a:endParaRPr lang="ru-RU" sz="320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b="1" smtClean="0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2-MASHG'ULOT</a:t>
            </a:r>
            <a:endParaRPr lang="ru-RU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0613" y="309563"/>
            <a:ext cx="5526087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4838" y="257175"/>
            <a:ext cx="13342937" cy="764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Содержимое 1"/>
          <p:cNvSpPr>
            <a:spLocks noGrp="1"/>
          </p:cNvSpPr>
          <p:nvPr>
            <p:ph idx="1"/>
          </p:nvPr>
        </p:nvSpPr>
        <p:spPr>
          <a:xfrm>
            <a:off x="731838" y="1828800"/>
            <a:ext cx="13166725" cy="6043613"/>
          </a:xfrm>
        </p:spPr>
        <p:txBody>
          <a:bodyPr/>
          <a:lstStyle/>
          <a:p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3-mashg‘ulot D2, D3, D4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D5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kataklariga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10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raqamini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”). </a:t>
            </a:r>
            <a:endParaRPr lang="ru-RU" sz="3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4-mashg‘ulot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Endi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tayyorlash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ketishini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*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bajaradi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(B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*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(D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E2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D2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koʻpaytiruvchi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E3, E4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E5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nusxalang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5-mashg‘ulot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savdosidan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olganingizni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Sotish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*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bajaradi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Sotish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(C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* “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(D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F2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D2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koʻpaytiruvchi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formulasini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F3, F4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F5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kataklarga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nusxalang</a:t>
            </a:r>
            <a:r>
              <a:rPr lang="en-US" sz="3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ru-RU" dirty="0" smtClean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sz="4800" b="1" smtClean="0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ELEKTRON JADVALGA QAYTA ISHLOV BERISH</a:t>
            </a:r>
            <a:endParaRPr lang="ru-RU" sz="4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Содержимое 1"/>
          <p:cNvSpPr>
            <a:spLocks noGrp="1"/>
          </p:cNvSpPr>
          <p:nvPr>
            <p:ph idx="1"/>
          </p:nvPr>
        </p:nvSpPr>
        <p:spPr>
          <a:xfrm>
            <a:off x="731838" y="1646238"/>
            <a:ext cx="13166725" cy="6365875"/>
          </a:xfrm>
        </p:spPr>
        <p:txBody>
          <a:bodyPr/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6-mashg‘ulot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shokoladlarning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B9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miqdorlarni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(E2, E3, E4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E5)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qoʻshuvchi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7-mashg‘ulot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B10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ustunidagi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miqdorlarni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(F2, F3, F4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F5)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qoʻshuvchi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8-mashg‘ulot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Doʻkoningiz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olganini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aniqlanadi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(B10) - “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(B9) B11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xarajatlarni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(B9) “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” (B10)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ayiruvchi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9-mashg‘ulot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olinayotgan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narxini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koʻrsatish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yarating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(A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/>
            </a:pPr>
            <a:r>
              <a:rPr b="1" smtClean="0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ELEKTRON JADVALGA QAYTA ISHLOV BERISH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0"/>
          <p:cNvSpPr>
            <a:spLocks noChangeArrowheads="1"/>
          </p:cNvSpPr>
          <p:nvPr/>
        </p:nvSpPr>
        <p:spPr bwMode="auto">
          <a:xfrm>
            <a:off x="914400" y="638175"/>
            <a:ext cx="129667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5250"/>
              </a:lnSpc>
            </a:pPr>
            <a:r>
              <a:rPr lang="en-US" sz="4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ELEKTRON JADVALGA QAYTA ISHLOV BERISH</a:t>
            </a:r>
            <a:r>
              <a:rPr lang="en-US" sz="4400" b="1" dirty="0" smtClean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:  </a:t>
            </a:r>
            <a:r>
              <a:rPr lang="en-US" sz="4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6-8-MASHG'ULOTLAR</a:t>
            </a:r>
            <a:endParaRPr lang="en-US" sz="4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6488" y="2386013"/>
            <a:ext cx="1068387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 1"/>
          <p:cNvSpPr>
            <a:spLocks noChangeArrowheads="1"/>
          </p:cNvSpPr>
          <p:nvPr/>
        </p:nvSpPr>
        <p:spPr bwMode="auto">
          <a:xfrm>
            <a:off x="2174875" y="2987675"/>
            <a:ext cx="858520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UMUMIY XARAJATLAR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74875" y="3616325"/>
            <a:ext cx="11706225" cy="66516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B9 katagiga E ustunidagi barcha miqdorlarni (E2-E5) qo'shuvchi formula yozing.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10" name="Image 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06488" y="4389438"/>
            <a:ext cx="1068387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1" name="Text 3"/>
          <p:cNvSpPr>
            <a:spLocks noChangeArrowheads="1"/>
          </p:cNvSpPr>
          <p:nvPr/>
        </p:nvSpPr>
        <p:spPr bwMode="auto">
          <a:xfrm>
            <a:off x="2174875" y="4389438"/>
            <a:ext cx="8161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UMUMIY DAROMAD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174875" y="5164138"/>
            <a:ext cx="11706225" cy="66516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B10 katagiga F ustunidagi barcha miqdorlarni (F2-F5) qo'shuvchi formula yozing.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13" name="Image 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06488" y="6256338"/>
            <a:ext cx="1068387" cy="154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Text 5"/>
          <p:cNvSpPr>
            <a:spLocks noChangeArrowheads="1"/>
          </p:cNvSpPr>
          <p:nvPr/>
        </p:nvSpPr>
        <p:spPr bwMode="auto">
          <a:xfrm>
            <a:off x="2174875" y="5938838"/>
            <a:ext cx="8005763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FOYDA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174875" y="6711950"/>
            <a:ext cx="11706225" cy="66516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B11 katagiga "Umumiy daromad" (B10) dan "Umumiy xarajatlar" (B9) ni ayiruvchi formula yozing.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313" y="901700"/>
            <a:ext cx="12931775" cy="11715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fontAlgn="auto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50" b="1" i="1" dirty="0">
                <a:solidFill>
                  <a:srgbClr val="0070C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ELEKTRON JADVALGA QAYTA ISHLOV BERISH: 9-11-MASHG'ULOTLAR</a:t>
            </a:r>
            <a:endParaRPr lang="en-US" sz="3650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1" name="Text 1"/>
          <p:cNvSpPr>
            <a:spLocks noChangeArrowheads="1"/>
          </p:cNvSpPr>
          <p:nvPr/>
        </p:nvSpPr>
        <p:spPr bwMode="auto">
          <a:xfrm>
            <a:off x="849313" y="2273300"/>
            <a:ext cx="4229100" cy="1430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800" b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9-MASHG'ULOT: USTUNLI DIAGRAMMA</a:t>
            </a:r>
            <a:endParaRPr lang="en-US" sz="28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22532" name="Text 2"/>
          <p:cNvSpPr>
            <a:spLocks noChangeArrowheads="1"/>
          </p:cNvSpPr>
          <p:nvPr/>
        </p:nvSpPr>
        <p:spPr bwMode="auto">
          <a:xfrm>
            <a:off x="849313" y="3704094"/>
            <a:ext cx="4229100" cy="2805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Roboto Condensed" charset="0"/>
              <a:cs typeface="Roboto Condensed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Do'konga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sotib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olinayotgan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shokoladlar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narxini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ko'rsatish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uchun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ustunli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diagramma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yarating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(A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va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B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ustunlar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kerak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bo'ladi</a:t>
            </a:r>
            <a:r>
              <a:rPr lang="en-US" sz="2800" i="1" dirty="0">
                <a:solidFill>
                  <a:schemeClr val="bg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).</a:t>
            </a:r>
            <a:endParaRPr lang="en-US" sz="2800" i="1" dirty="0">
              <a:solidFill>
                <a:schemeClr val="bg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pic>
        <p:nvPicPr>
          <p:cNvPr id="2253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2963" y="2273300"/>
            <a:ext cx="7858125" cy="4881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Содержимое 1"/>
          <p:cNvSpPr>
            <a:spLocks noGrp="1"/>
          </p:cNvSpPr>
          <p:nvPr>
            <p:ph idx="1"/>
          </p:nvPr>
        </p:nvSpPr>
        <p:spPr>
          <a:xfrm>
            <a:off x="731838" y="433388"/>
            <a:ext cx="13166725" cy="6881812"/>
          </a:xfrm>
        </p:spPr>
        <p:txBody>
          <a:bodyPr/>
          <a:lstStyle/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10-mashg‘ulot.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Agar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20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ortsa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oʻzgartiring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adashmaganingizni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11-mashg‘ulot.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Agar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sutli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shokoladlarning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marta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ortsa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oʻzgartiring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adashmaganingizni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782306"/>
            <a:ext cx="13325206" cy="117997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solidFill>
                  <a:srgbClr val="7030A0"/>
                </a:solidFill>
                <a:latin typeface="Arial Black" pitchFamily="34" charset="0"/>
                <a:ea typeface="Hubot Sans Bold" pitchFamily="34" charset="-122"/>
                <a:cs typeface="Times New Roman" pitchFamily="18" charset="0"/>
              </a:rPr>
              <a:t>ELEKTRON JADVAL FUNKSIYALARI</a:t>
            </a:r>
            <a:endParaRPr lang="en-US" sz="5400" dirty="0">
              <a:solidFill>
                <a:srgbClr val="7030A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50" y="3416300"/>
            <a:ext cx="130429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SUM funksiyasidan tashqari, AVERAGE, MIN va MAX kabi boshqa funksiyalar ham mavjud.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0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750" y="4033838"/>
            <a:ext cx="566738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Text 2"/>
          <p:cNvSpPr>
            <a:spLocks noChangeArrowheads="1"/>
          </p:cNvSpPr>
          <p:nvPr/>
        </p:nvSpPr>
        <p:spPr bwMode="auto">
          <a:xfrm>
            <a:off x="1644650" y="4033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AVERAGE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44650" y="4524375"/>
            <a:ext cx="3308350" cy="14509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Ro'yxatning o'rtacha qiymatini aniqlaydi. Formula: =AVERAGE(Birinchi katak havolasi : Oxirgi katak havolasi).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3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5575" y="4033838"/>
            <a:ext cx="566738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Text 4"/>
          <p:cNvSpPr>
            <a:spLocks noChangeArrowheads="1"/>
          </p:cNvSpPr>
          <p:nvPr/>
        </p:nvSpPr>
        <p:spPr bwMode="auto">
          <a:xfrm>
            <a:off x="6086475" y="4033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MAX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86475" y="4524375"/>
            <a:ext cx="3308350" cy="14509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Ro'yxatdagi maksimum (eng katta) qiymatni aniqlaydi. Formula: =MAX(Birinchi katak havolasi : Oxirgi katak havolasi).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77400" y="4033838"/>
            <a:ext cx="5683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7" name="Text 6"/>
          <p:cNvSpPr>
            <a:spLocks noChangeArrowheads="1"/>
          </p:cNvSpPr>
          <p:nvPr/>
        </p:nvSpPr>
        <p:spPr bwMode="auto">
          <a:xfrm>
            <a:off x="10528300" y="40338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MIN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528300" y="4524375"/>
            <a:ext cx="3308350" cy="145097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Ro'yxatdagi minimum (eng kichik) qiymatni aniqlaydi. Formula: =MIN(Birinchi katak havolasi : Oxirgi katak havolasi).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828675"/>
            <a:ext cx="9366250" cy="70961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7030A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MASALA 1: AVERAGE, MAX, MIN</a:t>
            </a:r>
            <a:endParaRPr lang="en-US" sz="48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3" name="Text 1"/>
          <p:cNvSpPr>
            <a:spLocks noChangeArrowheads="1"/>
          </p:cNvSpPr>
          <p:nvPr/>
        </p:nvSpPr>
        <p:spPr bwMode="auto">
          <a:xfrm>
            <a:off x="793750" y="2105025"/>
            <a:ext cx="387032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1-MASHG'ULOT: O'RTACHA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50" y="2686050"/>
            <a:ext cx="4205288" cy="10890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A1 dan A5 gacha kataklarga raqamlarni yozing. B1 katagiga "O'rtacha" yorliqni, C1 katagiga esa =AVERAGE(A1:A5) formulani yozing.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5" name="Text 3"/>
          <p:cNvSpPr>
            <a:spLocks noChangeArrowheads="1"/>
          </p:cNvSpPr>
          <p:nvPr/>
        </p:nvSpPr>
        <p:spPr bwMode="auto">
          <a:xfrm>
            <a:off x="793750" y="4200041"/>
            <a:ext cx="4205288" cy="73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2-MASHG'ULOT: MAKSIMUM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50" y="4937125"/>
            <a:ext cx="4205288" cy="725488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B2 katakka "Maksimum" yorliqni, C2 katagiga esa =MAX(A1:A5) formulani yozing.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7" name="Text 5"/>
          <p:cNvSpPr>
            <a:spLocks noChangeArrowheads="1"/>
          </p:cNvSpPr>
          <p:nvPr/>
        </p:nvSpPr>
        <p:spPr bwMode="auto">
          <a:xfrm>
            <a:off x="793750" y="6152827"/>
            <a:ext cx="3997325" cy="526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3-MASHG'ULOT: MINIMUM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50" y="6679769"/>
            <a:ext cx="4205288" cy="96089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B3 katakka "Minimum" yorliqni, C3 katagiga esa =MIN(A1:A5) formulani yozing.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49481" y="2123631"/>
            <a:ext cx="2830069" cy="4152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2313" y="3536950"/>
            <a:ext cx="11607800" cy="6445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0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7030A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MASALA 2: ELEKTRON JADVAL KO'RINISHI</a:t>
            </a:r>
            <a:endParaRPr lang="en-US" sz="4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7" name="Text 1"/>
          <p:cNvSpPr>
            <a:spLocks noChangeArrowheads="1"/>
          </p:cNvSpPr>
          <p:nvPr/>
        </p:nvSpPr>
        <p:spPr bwMode="auto">
          <a:xfrm>
            <a:off x="722313" y="4462463"/>
            <a:ext cx="131857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450"/>
              </a:lnSpc>
            </a:pPr>
            <a:r>
              <a:rPr lang="en-US">
                <a:solidFill>
                  <a:srgbClr val="55575A"/>
                </a:solidFill>
                <a:latin typeface="Times New Roman" pitchFamily="18" charset="0"/>
                <a:cs typeface="Times New Roman" pitchFamily="18" charset="0"/>
              </a:rPr>
              <a:t>Elektron jadval ko'rinishini shrift turi, o'lchami va kataklar rangini almashtirish orqali o'zgartirish mumkin. "Shokolad do'koni" elektron jadvalingizni oching.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8" name="Shape 2"/>
          <p:cNvSpPr>
            <a:spLocks noChangeArrowheads="1"/>
          </p:cNvSpPr>
          <p:nvPr/>
        </p:nvSpPr>
        <p:spPr bwMode="auto">
          <a:xfrm>
            <a:off x="722313" y="4987925"/>
            <a:ext cx="6499225" cy="2282825"/>
          </a:xfrm>
          <a:prstGeom prst="roundRect">
            <a:avLst>
              <a:gd name="adj" fmla="val 1356"/>
            </a:avLst>
          </a:prstGeom>
          <a:solidFill>
            <a:srgbClr val="D8D9D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9" name="Shape 3"/>
          <p:cNvSpPr>
            <a:spLocks noChangeArrowheads="1"/>
          </p:cNvSpPr>
          <p:nvPr/>
        </p:nvSpPr>
        <p:spPr bwMode="auto">
          <a:xfrm>
            <a:off x="927100" y="5194300"/>
            <a:ext cx="619125" cy="617538"/>
          </a:xfrm>
          <a:prstGeom prst="roundRect">
            <a:avLst>
              <a:gd name="adj" fmla="val 14781954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30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6963" y="5364163"/>
            <a:ext cx="27940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1" name="Text 4"/>
          <p:cNvSpPr>
            <a:spLocks noChangeArrowheads="1"/>
          </p:cNvSpPr>
          <p:nvPr/>
        </p:nvSpPr>
        <p:spPr bwMode="auto">
          <a:xfrm>
            <a:off x="927100" y="5999163"/>
            <a:ext cx="4027488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1-MASHG'ULOT: FORMATLASH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 5"/>
          <p:cNvSpPr>
            <a:spLocks noChangeArrowheads="1"/>
          </p:cNvSpPr>
          <p:nvPr/>
        </p:nvSpPr>
        <p:spPr bwMode="auto">
          <a:xfrm>
            <a:off x="927100" y="6434138"/>
            <a:ext cx="6088063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450"/>
              </a:lnSpc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katagini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qalin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markazdan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tekislang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gacha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kataklarda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A9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A11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gacha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kataklarda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qaytaring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3" name="Shape 6"/>
          <p:cNvSpPr>
            <a:spLocks noChangeArrowheads="1"/>
          </p:cNvSpPr>
          <p:nvPr/>
        </p:nvSpPr>
        <p:spPr bwMode="auto">
          <a:xfrm>
            <a:off x="7408863" y="4987925"/>
            <a:ext cx="6499225" cy="2282825"/>
          </a:xfrm>
          <a:prstGeom prst="roundRect">
            <a:avLst>
              <a:gd name="adj" fmla="val 1356"/>
            </a:avLst>
          </a:prstGeom>
          <a:solidFill>
            <a:srgbClr val="D8D9D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4" name="Shape 7"/>
          <p:cNvSpPr>
            <a:spLocks noChangeArrowheads="1"/>
          </p:cNvSpPr>
          <p:nvPr/>
        </p:nvSpPr>
        <p:spPr bwMode="auto">
          <a:xfrm>
            <a:off x="7615238" y="5194300"/>
            <a:ext cx="617537" cy="617538"/>
          </a:xfrm>
          <a:prstGeom prst="roundRect">
            <a:avLst>
              <a:gd name="adj" fmla="val 14781954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3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85100" y="5364163"/>
            <a:ext cx="277813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6" name="Text 8"/>
          <p:cNvSpPr>
            <a:spLocks noChangeArrowheads="1"/>
          </p:cNvSpPr>
          <p:nvPr/>
        </p:nvSpPr>
        <p:spPr bwMode="auto">
          <a:xfrm>
            <a:off x="7615238" y="5999163"/>
            <a:ext cx="5383212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2-MASHG'ULOT: RANG VA CHEGARALAR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7" name="Text 9"/>
          <p:cNvSpPr>
            <a:spLocks noChangeArrowheads="1"/>
          </p:cNvSpPr>
          <p:nvPr/>
        </p:nvSpPr>
        <p:spPr bwMode="auto">
          <a:xfrm>
            <a:off x="7615238" y="6434138"/>
            <a:ext cx="60880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450"/>
              </a:lnSpc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F5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gacha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belgilang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och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kulrang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to'ldiring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chegaralarni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qo'shing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A9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B11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gacha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kataklarda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qaytaring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38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0463" y="268288"/>
            <a:ext cx="8558212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88</TotalTime>
  <Words>858</Words>
  <Application>Microsoft Office PowerPoint</Application>
  <PresentationFormat>Произвольный</PresentationFormat>
  <Paragraphs>82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Times New Roman</vt:lpstr>
      <vt:lpstr>Wingdings 2</vt:lpstr>
      <vt:lpstr>Constantia</vt:lpstr>
      <vt:lpstr>Hubot Sans Bold</vt:lpstr>
      <vt:lpstr>Roboto Condensed</vt:lpstr>
      <vt:lpstr>Wingdings</vt:lpstr>
      <vt:lpstr>Arial Black</vt:lpstr>
      <vt:lpstr>Calibri</vt:lpstr>
      <vt:lpstr>Бумажная</vt:lpstr>
      <vt:lpstr>6-sinf  Informatika va axborot texnologiyalari</vt:lpstr>
      <vt:lpstr>Слайд 2</vt:lpstr>
      <vt:lpstr>Слайд 3</vt:lpstr>
      <vt:lpstr>Слайд 4</vt:lpstr>
      <vt:lpstr>2-MASHG'ULOT</vt:lpstr>
      <vt:lpstr>Слайд 6</vt:lpstr>
      <vt:lpstr>ELEKTRON JADVALGA QAYTA ISHLOV BERISH</vt:lpstr>
      <vt:lpstr>ELEKTRON JADVALGA QAYTA ISHLOV BERISH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16</cp:revision>
  <dcterms:created xsi:type="dcterms:W3CDTF">2026-01-30T16:23:47Z</dcterms:created>
  <dcterms:modified xsi:type="dcterms:W3CDTF">2026-02-17T12:59:14Z</dcterms:modified>
</cp:coreProperties>
</file>