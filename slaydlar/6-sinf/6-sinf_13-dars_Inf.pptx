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4630400" cy="8229600"/>
  <p:notesSz cx="8229600" cy="14630400"/>
  <p:embeddedFontLst>
    <p:embeddedFont>
      <p:font typeface="Roboto Condensed" charset="0"/>
      <p:regular r:id="rId14"/>
    </p:embeddedFont>
    <p:embeddedFont>
      <p:font typeface="Arial Black" pitchFamily="34" charset="0"/>
      <p:bold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Wingdings 2" pitchFamily="18" charset="2"/>
      <p:regular r:id="rId20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-564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49930BE-BF82-419E-952A-DDCD1ED0CF74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E2A60D9D-2E8A-4570-BA1E-012AEDEF74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7093750-D6B4-484E-B0E6-7745EAF8894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333B15-739C-42BD-A3D5-91B3F795871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8109586-1770-4DB8-B538-C05B30686A7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A48D87-BEB2-43E4-9DB0-D9C236AD443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D0ED5DC-D096-4731-A0B1-0B7AAB0AA12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AA23D57-94D4-4358-94B4-2E2682F2EBA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C0AC915-CA00-4EB4-8450-8AD6109677C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EB18955-FD11-4BA1-8C13-8E86E1FDF2E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A1C8641-3EA0-47EE-AF65-70A6BA55122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624C53A-28E1-4FFD-8CB5-2850FAB60D2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2341563" y="4260850"/>
            <a:ext cx="4754562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7534275" y="4260850"/>
            <a:ext cx="4754563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7264400" y="4232275"/>
            <a:ext cx="73025" cy="53975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731520" y="4439765"/>
            <a:ext cx="13289280" cy="1371600"/>
          </a:xfrm>
        </p:spPr>
        <p:txBody>
          <a:bodyPr>
            <a:noAutofit/>
          </a:bodyPr>
          <a:lstStyle>
            <a:lvl1pPr marL="0" indent="0" algn="ctr">
              <a:buNone/>
              <a:defRPr sz="3100" spc="143" baseline="0">
                <a:solidFill>
                  <a:schemeClr val="tx2"/>
                </a:solidFill>
              </a:defRPr>
            </a:lvl1pPr>
            <a:lvl2pPr marL="653110" indent="0" algn="ctr">
              <a:buNone/>
            </a:lvl2pPr>
            <a:lvl3pPr marL="1306220" indent="0" algn="ctr">
              <a:buNone/>
            </a:lvl3pPr>
            <a:lvl4pPr marL="1959331" indent="0" algn="ctr">
              <a:buNone/>
            </a:lvl4pPr>
            <a:lvl5pPr marL="2612441" indent="0" algn="ctr">
              <a:buNone/>
            </a:lvl5pPr>
            <a:lvl6pPr marL="3265551" indent="0" algn="ctr">
              <a:buNone/>
            </a:lvl6pPr>
            <a:lvl7pPr marL="3918661" indent="0" algn="ctr">
              <a:buNone/>
            </a:lvl7pPr>
            <a:lvl8pPr marL="4571771" indent="0" algn="ctr">
              <a:buNone/>
            </a:lvl8pPr>
            <a:lvl9pPr marL="5224882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731520" y="1720478"/>
            <a:ext cx="13289280" cy="2377440"/>
          </a:xfrm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69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6176A-372D-407E-9DBA-FBCE457C61A7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8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1975B-E161-4925-AFDD-BEEE198D8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731520" y="1828800"/>
            <a:ext cx="13167360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11E66-3983-4E2D-9129-F66AA3A0F4B9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0241D-B5B8-4085-AA15-86B81E1267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1096963" y="5900738"/>
            <a:ext cx="12679362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4206240"/>
            <a:ext cx="12679680" cy="164592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69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5950637"/>
            <a:ext cx="12679680" cy="1181683"/>
          </a:xfrm>
        </p:spPr>
        <p:txBody>
          <a:bodyPr/>
          <a:lstStyle>
            <a:lvl1pPr marL="0" indent="0">
              <a:buNone/>
              <a:defRPr sz="2900" spc="143" baseline="0">
                <a:solidFill>
                  <a:schemeClr val="tx2"/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8B87F-3B4D-4AFF-9325-087749D5AC68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B4119-95E5-4308-B496-076AA5959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731520" y="1828800"/>
            <a:ext cx="6495898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7437120" y="1828800"/>
            <a:ext cx="6495898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2EFD7-C934-484D-8E7E-31CC442A3B3F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57C9B-2806-4DA7-9191-D60FCB879B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/>
          <p:cNvCxnSpPr/>
          <p:nvPr/>
        </p:nvCxnSpPr>
        <p:spPr>
          <a:xfrm>
            <a:off x="900113" y="2616200"/>
            <a:ext cx="5999162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7607300" y="2616200"/>
            <a:ext cx="5999163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1520" y="1679512"/>
            <a:ext cx="6464301" cy="9144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3700" b="1">
                <a:solidFill>
                  <a:schemeClr val="tx2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731520" y="2642275"/>
            <a:ext cx="6461760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7439661" y="2642275"/>
            <a:ext cx="6461760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20" y="186538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7437120" y="1679512"/>
            <a:ext cx="6464301" cy="9144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3700" b="1" baseline="0">
                <a:solidFill>
                  <a:schemeClr val="tx2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4D597-BD05-44D6-B2FA-0B2D3816CD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Дата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46826-29F6-4541-A7E1-41EBB18FDDC4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7CF06-9A44-457A-95CB-E22BBDF8292A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C1037-0496-4B79-B674-75FC1C2C95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0E34C-9B6B-49C1-9551-27130E5C1079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3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A5044-422D-4DA0-812D-41268FAE73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731520" y="548640"/>
            <a:ext cx="9997440" cy="6858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0850880" y="1920240"/>
            <a:ext cx="3174797" cy="448056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429"/>
              </a:spcAft>
              <a:buNone/>
              <a:defRPr sz="2300">
                <a:solidFill>
                  <a:schemeClr val="tx2"/>
                </a:solidFill>
              </a:defRPr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10850880" y="548640"/>
            <a:ext cx="3169920" cy="1280160"/>
          </a:xfrm>
        </p:spPr>
        <p:txBody>
          <a:bodyPr tIns="130622"/>
          <a:lstStyle>
            <a:lvl1pPr algn="l">
              <a:buNone/>
              <a:defRPr sz="2600" b="1" spc="-71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116BA-2485-49F2-9B3E-3EDC55CDA7FC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BA84-1D41-4BF0-929E-ECD0A4E10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07040" y="548640"/>
            <a:ext cx="3291840" cy="1280160"/>
          </a:xfrm>
        </p:spPr>
        <p:txBody>
          <a:bodyPr tIns="130622"/>
          <a:lstStyle>
            <a:lvl1pPr algn="l">
              <a:buNone/>
              <a:defRPr sz="2600" b="1" spc="-71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31520" y="548640"/>
            <a:ext cx="9631680" cy="667512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4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607040" y="1920240"/>
            <a:ext cx="3291840" cy="530352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429"/>
              </a:spcAft>
              <a:buFontTx/>
              <a:buNone/>
              <a:defRPr sz="2300" b="0">
                <a:solidFill>
                  <a:schemeClr val="tx2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E12B7-2457-4912-8AC9-7B989EB0FB8E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EE1D1-5F3D-4102-B167-7E5673CBDC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FF3BD-1457-4AC1-A40B-C5499563F563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67916-DAD3-4B3D-A0CD-7C11A06C00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0E8F7-5D8A-4422-949E-0F4565758C00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5D817-8362-4E93-A50E-C840C03A7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Текст 8"/>
          <p:cNvSpPr>
            <a:spLocks noGrp="1"/>
          </p:cNvSpPr>
          <p:nvPr>
            <p:ph type="body" idx="1"/>
          </p:nvPr>
        </p:nvSpPr>
        <p:spPr bwMode="auto">
          <a:xfrm>
            <a:off x="731838" y="1736725"/>
            <a:ext cx="13166725" cy="561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9266238" y="7443788"/>
            <a:ext cx="4144962" cy="461962"/>
          </a:xfrm>
          <a:prstGeom prst="rect">
            <a:avLst/>
          </a:prstGeom>
        </p:spPr>
        <p:txBody>
          <a:bodyPr vert="horz" lIns="130622" tIns="65311" rIns="130622" bIns="65311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7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11B70A-2E0B-42B4-AF78-1958D569539B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3413125" y="7443788"/>
            <a:ext cx="5730875" cy="461962"/>
          </a:xfrm>
          <a:prstGeom prst="rect">
            <a:avLst/>
          </a:prstGeom>
        </p:spPr>
        <p:txBody>
          <a:bodyPr vert="horz" lIns="130622" tIns="65311" rIns="130622" bIns="65311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3457238" y="7418388"/>
            <a:ext cx="974725" cy="547687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2300" baseline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E67DC4E-7D5E-43D0-A3BE-F0900A4482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1838" y="182563"/>
            <a:ext cx="13166725" cy="1463675"/>
          </a:xfrm>
          <a:prstGeom prst="rect">
            <a:avLst/>
          </a:prstGeom>
          <a:ln w="6350" cap="rnd">
            <a:noFill/>
          </a:ln>
        </p:spPr>
        <p:txBody>
          <a:bodyPr vert="horz" lIns="130622" tIns="65311" rIns="130622" bIns="65311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695" r:id="rId2"/>
    <p:sldLayoutId id="2147483704" r:id="rId3"/>
    <p:sldLayoutId id="2147483696" r:id="rId4"/>
    <p:sldLayoutId id="2147483705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lang="en-US" sz="6000" kern="1200" spc="-143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Arial" pitchFamily="34" charset="0"/>
        </a:defRPr>
      </a:lvl9pPr>
    </p:titleStyle>
    <p:bodyStyle>
      <a:lvl1pPr marL="390525" indent="-390525" algn="l" rtl="0" fontAlgn="base">
        <a:spcBef>
          <a:spcPts val="863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912813" indent="-390525" algn="l" rtl="0" fontAlgn="base">
        <a:spcBef>
          <a:spcPts val="425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3400" kern="1200">
          <a:solidFill>
            <a:schemeClr val="tx2"/>
          </a:solidFill>
          <a:latin typeface="+mn-lt"/>
          <a:ea typeface="+mn-ea"/>
          <a:cs typeface="+mn-cs"/>
        </a:defRPr>
      </a:lvl2pPr>
      <a:lvl3pPr marL="1436688" indent="-325438" algn="l" rtl="0" fontAlgn="base">
        <a:spcBef>
          <a:spcPts val="425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213" indent="-325438" algn="l" rtl="0" fontAlgn="base">
        <a:spcBef>
          <a:spcPts val="425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219325" indent="-325438" algn="l" rtl="0" fontAlgn="base">
        <a:spcBef>
          <a:spcPts val="48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612441" indent="-326555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685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3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65551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 0"/>
          <p:cNvSpPr>
            <a:spLocks noChangeArrowheads="1"/>
          </p:cNvSpPr>
          <p:nvPr/>
        </p:nvSpPr>
        <p:spPr bwMode="auto">
          <a:xfrm>
            <a:off x="793750" y="2519363"/>
            <a:ext cx="7556500" cy="212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5550"/>
              </a:lnSpc>
            </a:pPr>
            <a:r>
              <a:rPr lang="en-US" sz="4800" b="1" i="1" dirty="0">
                <a:solidFill>
                  <a:srgbClr val="7030A0"/>
                </a:solidFill>
                <a:ea typeface="Hubot Sans Bold"/>
                <a:cs typeface="Hubot Sans Bold"/>
              </a:rPr>
              <a:t>YAKUNIY LOYIHA – MAKTABDA SAYOHAT VAQTI!</a:t>
            </a:r>
            <a:endParaRPr lang="en-US" sz="4800" i="1" dirty="0">
              <a:solidFill>
                <a:srgbClr val="7030A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50" y="4984750"/>
            <a:ext cx="7556500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Ushbu modulda o'rgangan ko'nikmalaringizdan foydalanib, Texno kompyuter muzeyiga sayohat xarajatlarini hisoblang.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0"/>
          <p:cNvSpPr>
            <a:spLocks noChangeArrowheads="1"/>
          </p:cNvSpPr>
          <p:nvPr/>
        </p:nvSpPr>
        <p:spPr bwMode="auto">
          <a:xfrm>
            <a:off x="793750" y="1562100"/>
            <a:ext cx="73644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en-US" sz="5400" b="1" i="1" dirty="0">
                <a:solidFill>
                  <a:srgbClr val="7030A0"/>
                </a:solidFill>
                <a:latin typeface="+mn-lt"/>
                <a:ea typeface="Hubot Sans Bold"/>
                <a:cs typeface="Hubot Sans Bold"/>
              </a:rPr>
              <a:t>SAYOHAT XARAJATLARI</a:t>
            </a:r>
            <a:endParaRPr lang="en-US" sz="5400" i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50" y="2724150"/>
            <a:ext cx="13042900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Maktabingiz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sizni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muzeyga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sayohatga olib bormoqchi. O'qituvchizingiz sizdan sayohatning jami xarajatini va har bir o'quvchi qancha pul to'lashi kerakligini aniqlashingizni xohlaydi.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6388" name="Shape 2"/>
          <p:cNvSpPr>
            <a:spLocks noChangeArrowheads="1"/>
          </p:cNvSpPr>
          <p:nvPr/>
        </p:nvSpPr>
        <p:spPr bwMode="auto">
          <a:xfrm>
            <a:off x="793750" y="3705225"/>
            <a:ext cx="4195763" cy="1368425"/>
          </a:xfrm>
          <a:prstGeom prst="roundRect">
            <a:avLst>
              <a:gd name="adj" fmla="val 10694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389" name="Shape 3"/>
          <p:cNvSpPr>
            <a:spLocks noChangeArrowheads="1"/>
          </p:cNvSpPr>
          <p:nvPr/>
        </p:nvSpPr>
        <p:spPr bwMode="auto">
          <a:xfrm>
            <a:off x="763588" y="3705225"/>
            <a:ext cx="122237" cy="1368425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390" name="Text 4"/>
          <p:cNvSpPr>
            <a:spLocks noChangeArrowheads="1"/>
          </p:cNvSpPr>
          <p:nvPr/>
        </p:nvSpPr>
        <p:spPr bwMode="auto">
          <a:xfrm>
            <a:off x="1143000" y="39624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55575A"/>
                </a:solidFill>
                <a:latin typeface="+mn-lt"/>
                <a:ea typeface="Hubot Sans Bold"/>
                <a:cs typeface="Hubot Sans Bold"/>
              </a:rPr>
              <a:t>MURABBIY</a:t>
            </a:r>
            <a:endParaRPr lang="en-US" sz="2400" dirty="0">
              <a:latin typeface="+mn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4452938"/>
            <a:ext cx="3589338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Murabbiy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uchun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50000 so'm.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6392" name="Shape 6"/>
          <p:cNvSpPr>
            <a:spLocks noChangeArrowheads="1"/>
          </p:cNvSpPr>
          <p:nvPr/>
        </p:nvSpPr>
        <p:spPr bwMode="auto">
          <a:xfrm>
            <a:off x="5216525" y="3705225"/>
            <a:ext cx="4197350" cy="1368425"/>
          </a:xfrm>
          <a:prstGeom prst="roundRect">
            <a:avLst>
              <a:gd name="adj" fmla="val 10694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393" name="Shape 7"/>
          <p:cNvSpPr>
            <a:spLocks noChangeArrowheads="1"/>
          </p:cNvSpPr>
          <p:nvPr/>
        </p:nvSpPr>
        <p:spPr bwMode="auto">
          <a:xfrm>
            <a:off x="5186363" y="3705225"/>
            <a:ext cx="122237" cy="1368425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394" name="Text 8"/>
          <p:cNvSpPr>
            <a:spLocks noChangeArrowheads="1"/>
          </p:cNvSpPr>
          <p:nvPr/>
        </p:nvSpPr>
        <p:spPr bwMode="auto">
          <a:xfrm>
            <a:off x="5565775" y="39624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55575A"/>
                </a:solidFill>
                <a:latin typeface="+mn-lt"/>
                <a:ea typeface="Hubot Sans Bold"/>
                <a:cs typeface="Hubot Sans Bold"/>
              </a:rPr>
              <a:t>MUZEYGA KIRISH</a:t>
            </a:r>
            <a:endParaRPr lang="en-US" sz="2400">
              <a:latin typeface="+mn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5775" y="4452938"/>
            <a:ext cx="3590925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Har bir o'quvchi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uchun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15000 so'm.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6396" name="Shape 10"/>
          <p:cNvSpPr>
            <a:spLocks noChangeArrowheads="1"/>
          </p:cNvSpPr>
          <p:nvPr/>
        </p:nvSpPr>
        <p:spPr bwMode="auto">
          <a:xfrm>
            <a:off x="9640888" y="3705225"/>
            <a:ext cx="4195762" cy="1368425"/>
          </a:xfrm>
          <a:prstGeom prst="roundRect">
            <a:avLst>
              <a:gd name="adj" fmla="val 10694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397" name="Shape 11"/>
          <p:cNvSpPr>
            <a:spLocks noChangeArrowheads="1"/>
          </p:cNvSpPr>
          <p:nvPr/>
        </p:nvSpPr>
        <p:spPr bwMode="auto">
          <a:xfrm>
            <a:off x="9609138" y="3705225"/>
            <a:ext cx="122237" cy="1368425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398" name="Text 12"/>
          <p:cNvSpPr>
            <a:spLocks noChangeArrowheads="1"/>
          </p:cNvSpPr>
          <p:nvPr/>
        </p:nvSpPr>
        <p:spPr bwMode="auto">
          <a:xfrm>
            <a:off x="9988550" y="39624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55575A"/>
                </a:solidFill>
                <a:latin typeface="+mn-lt"/>
                <a:ea typeface="Hubot Sans Bold"/>
                <a:cs typeface="Hubot Sans Bold"/>
              </a:rPr>
              <a:t>EKSKURSIYA</a:t>
            </a:r>
            <a:endParaRPr lang="en-US" sz="2400">
              <a:latin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8550" y="4452938"/>
            <a:ext cx="3590925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Har bir o'quvchi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uchun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10000 so'm.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6400" name="Shape 14"/>
          <p:cNvSpPr>
            <a:spLocks noChangeArrowheads="1"/>
          </p:cNvSpPr>
          <p:nvPr/>
        </p:nvSpPr>
        <p:spPr bwMode="auto">
          <a:xfrm>
            <a:off x="793750" y="5299075"/>
            <a:ext cx="4195763" cy="1368425"/>
          </a:xfrm>
          <a:prstGeom prst="roundRect">
            <a:avLst>
              <a:gd name="adj" fmla="val 10694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401" name="Shape 15"/>
          <p:cNvSpPr>
            <a:spLocks noChangeArrowheads="1"/>
          </p:cNvSpPr>
          <p:nvPr/>
        </p:nvSpPr>
        <p:spPr bwMode="auto">
          <a:xfrm>
            <a:off x="763588" y="5299075"/>
            <a:ext cx="122237" cy="1368425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402" name="Text 16"/>
          <p:cNvSpPr>
            <a:spLocks noChangeArrowheads="1"/>
          </p:cNvSpPr>
          <p:nvPr/>
        </p:nvSpPr>
        <p:spPr bwMode="auto">
          <a:xfrm>
            <a:off x="1143000" y="5557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55575A"/>
                </a:solidFill>
                <a:latin typeface="+mn-lt"/>
                <a:ea typeface="Hubot Sans Bold"/>
                <a:cs typeface="Hubot Sans Bold"/>
              </a:rPr>
              <a:t>TUSHLIK</a:t>
            </a:r>
            <a:endParaRPr lang="en-US" sz="2400">
              <a:latin typeface="+mn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6046788"/>
            <a:ext cx="3589338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Har bir o'quvchi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uchun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20000 so'm.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6404" name="Shape 18"/>
          <p:cNvSpPr>
            <a:spLocks noChangeArrowheads="1"/>
          </p:cNvSpPr>
          <p:nvPr/>
        </p:nvSpPr>
        <p:spPr bwMode="auto">
          <a:xfrm>
            <a:off x="5216525" y="5299075"/>
            <a:ext cx="4197350" cy="1368425"/>
          </a:xfrm>
          <a:prstGeom prst="roundRect">
            <a:avLst>
              <a:gd name="adj" fmla="val 10694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405" name="Shape 19"/>
          <p:cNvSpPr>
            <a:spLocks noChangeArrowheads="1"/>
          </p:cNvSpPr>
          <p:nvPr/>
        </p:nvSpPr>
        <p:spPr bwMode="auto">
          <a:xfrm>
            <a:off x="5186363" y="5299075"/>
            <a:ext cx="122237" cy="1368425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+mn-lt"/>
            </a:endParaRPr>
          </a:p>
        </p:txBody>
      </p:sp>
      <p:sp>
        <p:nvSpPr>
          <p:cNvPr id="16406" name="Text 20"/>
          <p:cNvSpPr>
            <a:spLocks noChangeArrowheads="1"/>
          </p:cNvSpPr>
          <p:nvPr/>
        </p:nvSpPr>
        <p:spPr bwMode="auto">
          <a:xfrm>
            <a:off x="5565775" y="5557838"/>
            <a:ext cx="3198813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55575A"/>
                </a:solidFill>
                <a:latin typeface="+mn-lt"/>
                <a:ea typeface="Hubot Sans Bold"/>
                <a:cs typeface="Hubot Sans Bold"/>
              </a:rPr>
              <a:t>QO'SHIMCHA XODIM</a:t>
            </a:r>
            <a:endParaRPr lang="en-US" sz="2400">
              <a:latin typeface="+mn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65775" y="6046788"/>
            <a:ext cx="3590925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Qo'shimcha xodim </a:t>
            </a:r>
            <a:r>
              <a:rPr lang="en-US" dirty="0" err="1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uchun</a:t>
            </a: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 20000 so'm.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0"/>
          <p:cNvSpPr>
            <a:spLocks noChangeArrowheads="1"/>
          </p:cNvSpPr>
          <p:nvPr/>
        </p:nvSpPr>
        <p:spPr bwMode="auto">
          <a:xfrm>
            <a:off x="922338" y="568325"/>
            <a:ext cx="11109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4550"/>
              </a:lnSpc>
            </a:pPr>
            <a:r>
              <a:rPr lang="en-US" sz="4000" b="1" i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Times New Roman" pitchFamily="18" charset="0"/>
              </a:rPr>
              <a:t>1-MASHG'ULOT: ELEKTRON JADVAL YARATISH</a:t>
            </a:r>
            <a:endParaRPr lang="en-US" sz="4000" i="1" dirty="0">
              <a:solidFill>
                <a:srgbClr val="7030A0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2338" y="1450975"/>
            <a:ext cx="12785725" cy="26828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Yangi elektron jadval yarating va unga "Maktab sayohati" deb nom bering. Quyidagi yorliqlarni kiriting: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12" name="Shape 2"/>
          <p:cNvSpPr>
            <a:spLocks noChangeArrowheads="1"/>
          </p:cNvSpPr>
          <p:nvPr/>
        </p:nvSpPr>
        <p:spPr bwMode="auto">
          <a:xfrm>
            <a:off x="922338" y="3370263"/>
            <a:ext cx="4181475" cy="2809875"/>
          </a:xfrm>
          <a:prstGeom prst="roundRect">
            <a:avLst>
              <a:gd name="adj" fmla="val 991"/>
            </a:avLst>
          </a:prstGeom>
          <a:noFill/>
          <a:ln w="7620">
            <a:solidFill>
              <a:srgbClr val="000000">
                <a:alpha val="7843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13" name="Shape 3"/>
          <p:cNvSpPr>
            <a:spLocks noChangeArrowheads="1"/>
          </p:cNvSpPr>
          <p:nvPr/>
        </p:nvSpPr>
        <p:spPr bwMode="auto">
          <a:xfrm>
            <a:off x="930275" y="3378200"/>
            <a:ext cx="4165600" cy="465138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4425" y="3476625"/>
            <a:ext cx="1709738" cy="26828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Katak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1988" y="3476625"/>
            <a:ext cx="1708150" cy="26828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Yorliq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16" name="Shape 6"/>
          <p:cNvSpPr>
            <a:spLocks noChangeArrowheads="1"/>
          </p:cNvSpPr>
          <p:nvPr/>
        </p:nvSpPr>
        <p:spPr bwMode="auto">
          <a:xfrm>
            <a:off x="930275" y="3843338"/>
            <a:ext cx="4165600" cy="466725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4425" y="3941763"/>
            <a:ext cx="1709738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A1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1988" y="3941763"/>
            <a:ext cx="1708150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Jami xarajatlar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19" name="Shape 9"/>
          <p:cNvSpPr>
            <a:spLocks noChangeArrowheads="1"/>
          </p:cNvSpPr>
          <p:nvPr/>
        </p:nvSpPr>
        <p:spPr bwMode="auto">
          <a:xfrm>
            <a:off x="930275" y="4310063"/>
            <a:ext cx="4165600" cy="465137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4425" y="4408488"/>
            <a:ext cx="1709738" cy="26828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A2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1988" y="4408488"/>
            <a:ext cx="1708150" cy="26828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Predmet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22" name="Shape 12"/>
          <p:cNvSpPr>
            <a:spLocks noChangeArrowheads="1"/>
          </p:cNvSpPr>
          <p:nvPr/>
        </p:nvSpPr>
        <p:spPr bwMode="auto">
          <a:xfrm>
            <a:off x="930275" y="4775200"/>
            <a:ext cx="4165600" cy="466725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4425" y="4873625"/>
            <a:ext cx="1709738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B2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1988" y="4873625"/>
            <a:ext cx="1708150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Narxi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25" name="Shape 15"/>
          <p:cNvSpPr>
            <a:spLocks noChangeArrowheads="1"/>
          </p:cNvSpPr>
          <p:nvPr/>
        </p:nvSpPr>
        <p:spPr bwMode="auto">
          <a:xfrm>
            <a:off x="930275" y="5240338"/>
            <a:ext cx="4165600" cy="466725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4425" y="5338763"/>
            <a:ext cx="1709738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A3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1988" y="5338763"/>
            <a:ext cx="1708150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Murabbiy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7428" name="Shape 18"/>
          <p:cNvSpPr>
            <a:spLocks noChangeArrowheads="1"/>
          </p:cNvSpPr>
          <p:nvPr/>
        </p:nvSpPr>
        <p:spPr bwMode="auto">
          <a:xfrm>
            <a:off x="930275" y="5707063"/>
            <a:ext cx="4165600" cy="465137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14425" y="5805488"/>
            <a:ext cx="1709738" cy="26828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A4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1988" y="5805488"/>
            <a:ext cx="1708150" cy="26828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Xodim uchun xarajat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62600" y="2025650"/>
            <a:ext cx="8153400" cy="2698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B3 katagiga murabbiy xarajatini (500 so'm) yozing.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62600" y="2432050"/>
            <a:ext cx="8153400" cy="26828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B4 katagiga qo'shimcha xodimlar xarajatlarini (200 so'm) yozing.</a:t>
            </a:r>
            <a:endParaRPr lang="en-US" sz="1600" dirty="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33722" y="3145911"/>
            <a:ext cx="6638359" cy="4385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0"/>
          <p:cNvSpPr>
            <a:spLocks noChangeArrowheads="1"/>
          </p:cNvSpPr>
          <p:nvPr/>
        </p:nvSpPr>
        <p:spPr bwMode="auto">
          <a:xfrm>
            <a:off x="1168400" y="515938"/>
            <a:ext cx="1229360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ts val="4350"/>
              </a:lnSpc>
            </a:pPr>
            <a:r>
              <a:rPr lang="en-US" sz="4000" b="1" i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2-MASHG'ULOT: HAR BIR O'QUVCHI UCHUN XARAJATLAR</a:t>
            </a:r>
            <a:endParaRPr lang="en-US" sz="4000" i="1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18435" name="Text 1"/>
          <p:cNvSpPr>
            <a:spLocks noChangeArrowheads="1"/>
          </p:cNvSpPr>
          <p:nvPr/>
        </p:nvSpPr>
        <p:spPr bwMode="auto">
          <a:xfrm>
            <a:off x="1168400" y="1909763"/>
            <a:ext cx="12293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Jadvalga har bir o'quvchi uchun xarajatlarni kiriting: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6" name="Shape 2"/>
          <p:cNvSpPr>
            <a:spLocks noChangeArrowheads="1"/>
          </p:cNvSpPr>
          <p:nvPr/>
        </p:nvSpPr>
        <p:spPr bwMode="auto">
          <a:xfrm>
            <a:off x="1168400" y="2914650"/>
            <a:ext cx="4019550" cy="4205288"/>
          </a:xfrm>
          <a:prstGeom prst="roundRect">
            <a:avLst>
              <a:gd name="adj" fmla="val 667"/>
            </a:avLst>
          </a:prstGeom>
          <a:noFill/>
          <a:ln w="7620">
            <a:solidFill>
              <a:srgbClr val="000000">
                <a:alpha val="7843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hape 3"/>
          <p:cNvSpPr>
            <a:spLocks noChangeArrowheads="1"/>
          </p:cNvSpPr>
          <p:nvPr/>
        </p:nvSpPr>
        <p:spPr bwMode="auto">
          <a:xfrm>
            <a:off x="1176338" y="2921000"/>
            <a:ext cx="4005262" cy="438150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8" name="Text 4"/>
          <p:cNvSpPr>
            <a:spLocks noChangeArrowheads="1"/>
          </p:cNvSpPr>
          <p:nvPr/>
        </p:nvSpPr>
        <p:spPr bwMode="auto">
          <a:xfrm>
            <a:off x="1354138" y="3013075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Katak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9" name="Text 5"/>
          <p:cNvSpPr>
            <a:spLocks noChangeArrowheads="1"/>
          </p:cNvSpPr>
          <p:nvPr/>
        </p:nvSpPr>
        <p:spPr bwMode="auto">
          <a:xfrm>
            <a:off x="3360738" y="3013075"/>
            <a:ext cx="16414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Yorliq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0" name="Shape 6"/>
          <p:cNvSpPr>
            <a:spLocks noChangeArrowheads="1"/>
          </p:cNvSpPr>
          <p:nvPr/>
        </p:nvSpPr>
        <p:spPr bwMode="auto">
          <a:xfrm>
            <a:off x="1176338" y="3359150"/>
            <a:ext cx="4005262" cy="692150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1" name="Text 7"/>
          <p:cNvSpPr>
            <a:spLocks noChangeArrowheads="1"/>
          </p:cNvSpPr>
          <p:nvPr/>
        </p:nvSpPr>
        <p:spPr bwMode="auto">
          <a:xfrm>
            <a:off x="1354138" y="3451225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D1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2" name="Text 8"/>
          <p:cNvSpPr>
            <a:spLocks noChangeArrowheads="1"/>
          </p:cNvSpPr>
          <p:nvPr/>
        </p:nvSpPr>
        <p:spPr bwMode="auto">
          <a:xfrm>
            <a:off x="3360738" y="3451225"/>
            <a:ext cx="1641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Har bir o'quvchi uchun xarajat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3" name="Shape 9"/>
          <p:cNvSpPr>
            <a:spLocks noChangeArrowheads="1"/>
          </p:cNvSpPr>
          <p:nvPr/>
        </p:nvSpPr>
        <p:spPr bwMode="auto">
          <a:xfrm>
            <a:off x="1176338" y="4051300"/>
            <a:ext cx="4005262" cy="436563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4" name="Text 10"/>
          <p:cNvSpPr>
            <a:spLocks noChangeArrowheads="1"/>
          </p:cNvSpPr>
          <p:nvPr/>
        </p:nvSpPr>
        <p:spPr bwMode="auto">
          <a:xfrm>
            <a:off x="1354138" y="4141788"/>
            <a:ext cx="1643062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D2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5" name="Text 11"/>
          <p:cNvSpPr>
            <a:spLocks noChangeArrowheads="1"/>
          </p:cNvSpPr>
          <p:nvPr/>
        </p:nvSpPr>
        <p:spPr bwMode="auto">
          <a:xfrm>
            <a:off x="3360738" y="4141788"/>
            <a:ext cx="1641475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Predmet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6" name="Shape 12"/>
          <p:cNvSpPr>
            <a:spLocks noChangeArrowheads="1"/>
          </p:cNvSpPr>
          <p:nvPr/>
        </p:nvSpPr>
        <p:spPr bwMode="auto">
          <a:xfrm>
            <a:off x="1176338" y="4487863"/>
            <a:ext cx="4005262" cy="438150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7" name="Text 13"/>
          <p:cNvSpPr>
            <a:spLocks noChangeArrowheads="1"/>
          </p:cNvSpPr>
          <p:nvPr/>
        </p:nvSpPr>
        <p:spPr bwMode="auto">
          <a:xfrm>
            <a:off x="1354138" y="4579938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E2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8" name="Text 14"/>
          <p:cNvSpPr>
            <a:spLocks noChangeArrowheads="1"/>
          </p:cNvSpPr>
          <p:nvPr/>
        </p:nvSpPr>
        <p:spPr bwMode="auto">
          <a:xfrm>
            <a:off x="3360738" y="4579938"/>
            <a:ext cx="16414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Narxi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49" name="Shape 15"/>
          <p:cNvSpPr>
            <a:spLocks noChangeArrowheads="1"/>
          </p:cNvSpPr>
          <p:nvPr/>
        </p:nvSpPr>
        <p:spPr bwMode="auto">
          <a:xfrm>
            <a:off x="1176338" y="4926013"/>
            <a:ext cx="4005262" cy="436562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0" name="Text 16"/>
          <p:cNvSpPr>
            <a:spLocks noChangeArrowheads="1"/>
          </p:cNvSpPr>
          <p:nvPr/>
        </p:nvSpPr>
        <p:spPr bwMode="auto">
          <a:xfrm>
            <a:off x="1354138" y="5016500"/>
            <a:ext cx="1643062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D3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1" name="Text 17"/>
          <p:cNvSpPr>
            <a:spLocks noChangeArrowheads="1"/>
          </p:cNvSpPr>
          <p:nvPr/>
        </p:nvSpPr>
        <p:spPr bwMode="auto">
          <a:xfrm>
            <a:off x="3360738" y="5016500"/>
            <a:ext cx="1641475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Muzeyga kirish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2" name="Shape 18"/>
          <p:cNvSpPr>
            <a:spLocks noChangeArrowheads="1"/>
          </p:cNvSpPr>
          <p:nvPr/>
        </p:nvSpPr>
        <p:spPr bwMode="auto">
          <a:xfrm>
            <a:off x="1176338" y="5362575"/>
            <a:ext cx="4005262" cy="438150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3" name="Text 19"/>
          <p:cNvSpPr>
            <a:spLocks noChangeArrowheads="1"/>
          </p:cNvSpPr>
          <p:nvPr/>
        </p:nvSpPr>
        <p:spPr bwMode="auto">
          <a:xfrm>
            <a:off x="1354138" y="5454650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D4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4" name="Text 20"/>
          <p:cNvSpPr>
            <a:spLocks noChangeArrowheads="1"/>
          </p:cNvSpPr>
          <p:nvPr/>
        </p:nvSpPr>
        <p:spPr bwMode="auto">
          <a:xfrm>
            <a:off x="3360738" y="5454650"/>
            <a:ext cx="16414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Ekskursiya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5" name="Shape 21"/>
          <p:cNvSpPr>
            <a:spLocks noChangeArrowheads="1"/>
          </p:cNvSpPr>
          <p:nvPr/>
        </p:nvSpPr>
        <p:spPr bwMode="auto">
          <a:xfrm>
            <a:off x="1176338" y="5800725"/>
            <a:ext cx="4005262" cy="436563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6" name="Text 22"/>
          <p:cNvSpPr>
            <a:spLocks noChangeArrowheads="1"/>
          </p:cNvSpPr>
          <p:nvPr/>
        </p:nvSpPr>
        <p:spPr bwMode="auto">
          <a:xfrm>
            <a:off x="1354138" y="5892800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D5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7" name="Text 23"/>
          <p:cNvSpPr>
            <a:spLocks noChangeArrowheads="1"/>
          </p:cNvSpPr>
          <p:nvPr/>
        </p:nvSpPr>
        <p:spPr bwMode="auto">
          <a:xfrm>
            <a:off x="3360738" y="5892800"/>
            <a:ext cx="16414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Tushlik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8" name="Shape 24"/>
          <p:cNvSpPr>
            <a:spLocks noChangeArrowheads="1"/>
          </p:cNvSpPr>
          <p:nvPr/>
        </p:nvSpPr>
        <p:spPr bwMode="auto">
          <a:xfrm>
            <a:off x="1176338" y="6237288"/>
            <a:ext cx="4005262" cy="438150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59" name="Text 25"/>
          <p:cNvSpPr>
            <a:spLocks noChangeArrowheads="1"/>
          </p:cNvSpPr>
          <p:nvPr/>
        </p:nvSpPr>
        <p:spPr bwMode="auto">
          <a:xfrm>
            <a:off x="1354138" y="6329363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D6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60" name="Text 26"/>
          <p:cNvSpPr>
            <a:spLocks noChangeArrowheads="1"/>
          </p:cNvSpPr>
          <p:nvPr/>
        </p:nvSpPr>
        <p:spPr bwMode="auto">
          <a:xfrm>
            <a:off x="3360738" y="6329363"/>
            <a:ext cx="16414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Murabbiy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61" name="Shape 27"/>
          <p:cNvSpPr>
            <a:spLocks noChangeArrowheads="1"/>
          </p:cNvSpPr>
          <p:nvPr/>
        </p:nvSpPr>
        <p:spPr bwMode="auto">
          <a:xfrm>
            <a:off x="1176338" y="6675438"/>
            <a:ext cx="4005262" cy="438150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62" name="Text 28"/>
          <p:cNvSpPr>
            <a:spLocks noChangeArrowheads="1"/>
          </p:cNvSpPr>
          <p:nvPr/>
        </p:nvSpPr>
        <p:spPr bwMode="auto">
          <a:xfrm>
            <a:off x="1354138" y="6767513"/>
            <a:ext cx="1643062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D7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63" name="Text 29"/>
          <p:cNvSpPr>
            <a:spLocks noChangeArrowheads="1"/>
          </p:cNvSpPr>
          <p:nvPr/>
        </p:nvSpPr>
        <p:spPr bwMode="auto">
          <a:xfrm>
            <a:off x="3360738" y="6767513"/>
            <a:ext cx="1641475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Xodimlar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64" name="Text 30"/>
          <p:cNvSpPr>
            <a:spLocks noChangeArrowheads="1"/>
          </p:cNvSpPr>
          <p:nvPr/>
        </p:nvSpPr>
        <p:spPr bwMode="auto">
          <a:xfrm>
            <a:off x="5630863" y="2447925"/>
            <a:ext cx="78390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E3 katagiga muzeyga kirish (5 so'm), E4 katagiga ekskursiya (1 so'm), E5 katagiga tushlik (2 so'm) xarajatini yozing.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0863" y="3267074"/>
            <a:ext cx="8132483" cy="4265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0"/>
          <p:cNvSpPr>
            <a:spLocks noChangeArrowheads="1"/>
          </p:cNvSpPr>
          <p:nvPr/>
        </p:nvSpPr>
        <p:spPr bwMode="auto">
          <a:xfrm>
            <a:off x="793750" y="1400175"/>
            <a:ext cx="13042900" cy="141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ts val="5550"/>
              </a:lnSpc>
            </a:pPr>
            <a:r>
              <a:rPr lang="en-US" sz="4800" b="1" i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Times New Roman" pitchFamily="18" charset="0"/>
              </a:rPr>
              <a:t>3-MASHG'ULOT: XARAJATLARNI TAQSIMLASH</a:t>
            </a:r>
            <a:endParaRPr lang="en-US" sz="4800" i="1" dirty="0">
              <a:solidFill>
                <a:srgbClr val="7030A0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50" y="3271838"/>
            <a:ext cx="13042900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Murabbiy va xodimlar xarajatlari barcha o'quvchilar orasida teng taqsimlanadi.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460" name="Shape 2"/>
          <p:cNvSpPr>
            <a:spLocks noChangeArrowheads="1"/>
          </p:cNvSpPr>
          <p:nvPr/>
        </p:nvSpPr>
        <p:spPr bwMode="auto">
          <a:xfrm>
            <a:off x="793750" y="3889375"/>
            <a:ext cx="4195763" cy="2940050"/>
          </a:xfrm>
          <a:prstGeom prst="roundRect">
            <a:avLst>
              <a:gd name="adj" fmla="val 1157"/>
            </a:avLst>
          </a:prstGeom>
          <a:solidFill>
            <a:srgbClr val="D8D9D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461" name="Shape 3"/>
          <p:cNvSpPr>
            <a:spLocks noChangeArrowheads="1"/>
          </p:cNvSpPr>
          <p:nvPr/>
        </p:nvSpPr>
        <p:spPr bwMode="auto">
          <a:xfrm>
            <a:off x="1020763" y="4116388"/>
            <a:ext cx="681037" cy="681037"/>
          </a:xfrm>
          <a:prstGeom prst="roundRect">
            <a:avLst>
              <a:gd name="adj" fmla="val 13436981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1946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8088" y="4303713"/>
            <a:ext cx="306387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3" name="Text 4"/>
          <p:cNvSpPr>
            <a:spLocks noChangeArrowheads="1"/>
          </p:cNvSpPr>
          <p:nvPr/>
        </p:nvSpPr>
        <p:spPr bwMode="auto">
          <a:xfrm>
            <a:off x="1020763" y="5022850"/>
            <a:ext cx="30511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chemeClr val="bg1"/>
                </a:solidFill>
                <a:ea typeface="Hubot Sans Bold"/>
                <a:cs typeface="Times New Roman" pitchFamily="18" charset="0"/>
              </a:rPr>
              <a:t>O'QUVCHILAR SONI</a:t>
            </a:r>
            <a:endParaRPr lang="en-US" sz="24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0763" y="5513388"/>
            <a:ext cx="3743325" cy="7270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G1 katagiga "O'quvchilar soni" deb yozing, H1 katagiga esa 20 raqamini kiriting.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465" name="Shape 6"/>
          <p:cNvSpPr>
            <a:spLocks noChangeArrowheads="1"/>
          </p:cNvSpPr>
          <p:nvPr/>
        </p:nvSpPr>
        <p:spPr bwMode="auto">
          <a:xfrm>
            <a:off x="5216525" y="3889375"/>
            <a:ext cx="4197350" cy="2940050"/>
          </a:xfrm>
          <a:prstGeom prst="roundRect">
            <a:avLst>
              <a:gd name="adj" fmla="val 1157"/>
            </a:avLst>
          </a:prstGeom>
          <a:solidFill>
            <a:srgbClr val="D8D9D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466" name="Shape 7"/>
          <p:cNvSpPr>
            <a:spLocks noChangeArrowheads="1"/>
          </p:cNvSpPr>
          <p:nvPr/>
        </p:nvSpPr>
        <p:spPr bwMode="auto">
          <a:xfrm>
            <a:off x="5443538" y="4116388"/>
            <a:ext cx="681037" cy="681037"/>
          </a:xfrm>
          <a:prstGeom prst="roundRect">
            <a:avLst>
              <a:gd name="adj" fmla="val 13436981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19467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0863" y="4303713"/>
            <a:ext cx="306387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8" name="Text 8"/>
          <p:cNvSpPr>
            <a:spLocks noChangeArrowheads="1"/>
          </p:cNvSpPr>
          <p:nvPr/>
        </p:nvSpPr>
        <p:spPr bwMode="auto">
          <a:xfrm>
            <a:off x="5443538" y="5022850"/>
            <a:ext cx="3373437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chemeClr val="bg1"/>
                </a:solidFill>
                <a:ea typeface="Hubot Sans Bold"/>
                <a:cs typeface="Times New Roman" pitchFamily="18" charset="0"/>
              </a:rPr>
              <a:t>MURABBIY XARAJATI</a:t>
            </a:r>
            <a:endParaRPr lang="en-US" sz="24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43538" y="5513388"/>
            <a:ext cx="3743325" cy="7270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E6 katagiga avtobusni (B3) o'quvchilar soniga (H1) bo'lish uchun formula yozing.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470" name="Shape 10"/>
          <p:cNvSpPr>
            <a:spLocks noChangeArrowheads="1"/>
          </p:cNvSpPr>
          <p:nvPr/>
        </p:nvSpPr>
        <p:spPr bwMode="auto">
          <a:xfrm>
            <a:off x="9640888" y="3889375"/>
            <a:ext cx="4195762" cy="2940050"/>
          </a:xfrm>
          <a:prstGeom prst="roundRect">
            <a:avLst>
              <a:gd name="adj" fmla="val 1157"/>
            </a:avLst>
          </a:prstGeom>
          <a:solidFill>
            <a:srgbClr val="D8D9D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9471" name="Shape 11"/>
          <p:cNvSpPr>
            <a:spLocks noChangeArrowheads="1"/>
          </p:cNvSpPr>
          <p:nvPr/>
        </p:nvSpPr>
        <p:spPr bwMode="auto">
          <a:xfrm>
            <a:off x="9866313" y="4116388"/>
            <a:ext cx="681037" cy="681037"/>
          </a:xfrm>
          <a:prstGeom prst="roundRect">
            <a:avLst>
              <a:gd name="adj" fmla="val 13436981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1947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53638" y="4303713"/>
            <a:ext cx="306387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73" name="Text 12"/>
          <p:cNvSpPr>
            <a:spLocks noChangeArrowheads="1"/>
          </p:cNvSpPr>
          <p:nvPr/>
        </p:nvSpPr>
        <p:spPr bwMode="auto">
          <a:xfrm>
            <a:off x="9866313" y="5022850"/>
            <a:ext cx="3354387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chemeClr val="bg1"/>
                </a:solidFill>
                <a:ea typeface="Hubot Sans Bold"/>
                <a:cs typeface="Times New Roman" pitchFamily="18" charset="0"/>
              </a:rPr>
              <a:t>XODIMLAR XARAJATI</a:t>
            </a:r>
            <a:endParaRPr lang="en-US" sz="24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66313" y="5513388"/>
            <a:ext cx="3743325" cy="10890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E7 katagiga ustozlar xarajatini (B4) o'quvchilar soniga (H1) bo'lish uchun formula yozing.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0"/>
          <p:cNvSpPr>
            <a:spLocks noChangeArrowheads="1"/>
          </p:cNvSpPr>
          <p:nvPr/>
        </p:nvSpPr>
        <p:spPr bwMode="auto">
          <a:xfrm>
            <a:off x="682625" y="536575"/>
            <a:ext cx="132651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ts val="4750"/>
              </a:lnSpc>
            </a:pPr>
            <a:r>
              <a:rPr lang="en-US" sz="4400" b="1" i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4-MASHG'ULOT: BITTA O'QUVCHINING JAMI XARAJATI</a:t>
            </a:r>
            <a:endParaRPr lang="en-US" sz="4400" i="1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20483" name="Text 1"/>
          <p:cNvSpPr>
            <a:spLocks noChangeArrowheads="1"/>
          </p:cNvSpPr>
          <p:nvPr/>
        </p:nvSpPr>
        <p:spPr bwMode="auto">
          <a:xfrm>
            <a:off x="682625" y="2090738"/>
            <a:ext cx="1326515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Har bir o'quvchi uchun barcha xarajatlarni hisoblang.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4" name="Text 2"/>
          <p:cNvSpPr>
            <a:spLocks noChangeArrowheads="1"/>
          </p:cNvSpPr>
          <p:nvPr/>
        </p:nvSpPr>
        <p:spPr bwMode="auto">
          <a:xfrm>
            <a:off x="682625" y="3584575"/>
            <a:ext cx="243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350"/>
              </a:lnSpc>
            </a:pPr>
            <a:r>
              <a:rPr lang="en-US" sz="2000" b="1">
                <a:solidFill>
                  <a:schemeClr val="bg1"/>
                </a:solidFill>
                <a:latin typeface="+mn-lt"/>
                <a:ea typeface="Hubot Sans Bold"/>
                <a:cs typeface="Hubot Sans Bold"/>
              </a:rPr>
              <a:t>YORLIQ QO'SHISH</a:t>
            </a:r>
            <a:endParaRPr lang="en-US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5" name="Text 3"/>
          <p:cNvSpPr>
            <a:spLocks noChangeArrowheads="1"/>
          </p:cNvSpPr>
          <p:nvPr/>
        </p:nvSpPr>
        <p:spPr bwMode="auto">
          <a:xfrm>
            <a:off x="682625" y="4056063"/>
            <a:ext cx="4333875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A9 katagiga "Bitta o'quvchining xarajati" yorlig'ini yozing.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6" name="Text 4"/>
          <p:cNvSpPr>
            <a:spLocks noChangeArrowheads="1"/>
          </p:cNvSpPr>
          <p:nvPr/>
        </p:nvSpPr>
        <p:spPr bwMode="auto">
          <a:xfrm>
            <a:off x="682625" y="4514850"/>
            <a:ext cx="27003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350"/>
              </a:lnSpc>
            </a:pPr>
            <a:r>
              <a:rPr lang="en-US" sz="2000" b="1">
                <a:solidFill>
                  <a:schemeClr val="bg1"/>
                </a:solidFill>
                <a:latin typeface="+mn-lt"/>
                <a:ea typeface="Hubot Sans Bold"/>
                <a:cs typeface="Hubot Sans Bold"/>
              </a:rPr>
              <a:t>FORMULA KIRITISH</a:t>
            </a:r>
            <a:endParaRPr lang="en-US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7" name="Text 5"/>
          <p:cNvSpPr>
            <a:spLocks noChangeArrowheads="1"/>
          </p:cNvSpPr>
          <p:nvPr/>
        </p:nvSpPr>
        <p:spPr bwMode="auto">
          <a:xfrm>
            <a:off x="682625" y="4986338"/>
            <a:ext cx="4333875" cy="87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250"/>
              </a:lnSpc>
            </a:pP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B9 katagiga har bir o'quvchi uchun barcha xarajatlarni (E3, E4, E5, E6 va E7) bir-biriga qo'shuvchi formula yozing.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8" name="Text 6"/>
          <p:cNvSpPr>
            <a:spLocks noChangeArrowheads="1"/>
          </p:cNvSpPr>
          <p:nvPr/>
        </p:nvSpPr>
        <p:spPr bwMode="auto">
          <a:xfrm>
            <a:off x="682625" y="6008688"/>
            <a:ext cx="433387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00" b="1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Maslahat:</a:t>
            </a: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 Bo'lish belgisi $\text{/}$.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489" name="Text 7"/>
          <p:cNvSpPr>
            <a:spLocks noChangeArrowheads="1"/>
          </p:cNvSpPr>
          <p:nvPr/>
        </p:nvSpPr>
        <p:spPr bwMode="auto">
          <a:xfrm>
            <a:off x="682625" y="6448425"/>
            <a:ext cx="4333875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00" b="1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Maslahat:</a:t>
            </a:r>
            <a:r>
              <a:rPr lang="en-US" sz="1600">
                <a:solidFill>
                  <a:schemeClr val="bg1"/>
                </a:solidFill>
                <a:latin typeface="+mn-lt"/>
                <a:ea typeface="Roboto Condensed" charset="0"/>
                <a:cs typeface="Roboto Condensed" charset="0"/>
              </a:rPr>
              <a:t> SUM funksiyasidan foydalaning.</a:t>
            </a:r>
            <a:endParaRPr lang="en-US" sz="16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86934" y="3159313"/>
            <a:ext cx="8324068" cy="4551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0"/>
          <p:cNvSpPr>
            <a:spLocks noChangeArrowheads="1"/>
          </p:cNvSpPr>
          <p:nvPr/>
        </p:nvSpPr>
        <p:spPr bwMode="auto">
          <a:xfrm>
            <a:off x="793750" y="1644650"/>
            <a:ext cx="10414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5550"/>
              </a:lnSpc>
            </a:pPr>
            <a:r>
              <a:rPr lang="en-US" sz="5400" b="1" i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5-MASHG'ULOT: SENARIY TAHLILI</a:t>
            </a:r>
            <a:endParaRPr lang="en-US" sz="5400" i="1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50" y="2806700"/>
            <a:ext cx="13042900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Quyidagi savollarga javob bering: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1508" name="Shape 2"/>
          <p:cNvSpPr>
            <a:spLocks noChangeArrowheads="1"/>
          </p:cNvSpPr>
          <p:nvPr/>
        </p:nvSpPr>
        <p:spPr bwMode="auto">
          <a:xfrm>
            <a:off x="793750" y="3424238"/>
            <a:ext cx="6408738" cy="1466850"/>
          </a:xfrm>
          <a:prstGeom prst="roundRect">
            <a:avLst>
              <a:gd name="adj" fmla="val 2319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509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88" y="3319463"/>
            <a:ext cx="2730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35800" y="4724400"/>
            <a:ext cx="2714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3"/>
          <p:cNvSpPr/>
          <p:nvPr/>
        </p:nvSpPr>
        <p:spPr>
          <a:xfrm>
            <a:off x="1163638" y="3795713"/>
            <a:ext cx="5667375" cy="72548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Agar murabbiy xarajatini 1000 so'mga o'zgartirsangiz nima yuz beradi?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1512" name="Shape 4"/>
          <p:cNvSpPr>
            <a:spLocks noChangeArrowheads="1"/>
          </p:cNvSpPr>
          <p:nvPr/>
        </p:nvSpPr>
        <p:spPr bwMode="auto">
          <a:xfrm>
            <a:off x="7427913" y="3424238"/>
            <a:ext cx="6408737" cy="1466850"/>
          </a:xfrm>
          <a:prstGeom prst="roundRect">
            <a:avLst>
              <a:gd name="adj" fmla="val 2319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51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23138" y="3319463"/>
            <a:ext cx="27146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4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69963" y="4724400"/>
            <a:ext cx="27305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5"/>
          <p:cNvSpPr/>
          <p:nvPr/>
        </p:nvSpPr>
        <p:spPr>
          <a:xfrm>
            <a:off x="7799388" y="3795713"/>
            <a:ext cx="5667375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Agar o'quvchilar sonini 40 ga o'zgartirsangiz nima yuz beradi?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1516" name="Shape 6"/>
          <p:cNvSpPr>
            <a:spLocks noChangeArrowheads="1"/>
          </p:cNvSpPr>
          <p:nvPr/>
        </p:nvSpPr>
        <p:spPr bwMode="auto">
          <a:xfrm>
            <a:off x="793750" y="5118100"/>
            <a:ext cx="6408738" cy="1466850"/>
          </a:xfrm>
          <a:prstGeom prst="roundRect">
            <a:avLst>
              <a:gd name="adj" fmla="val 2319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517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88" y="5013325"/>
            <a:ext cx="2730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8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35800" y="6418263"/>
            <a:ext cx="2714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7"/>
          <p:cNvSpPr/>
          <p:nvPr/>
        </p:nvSpPr>
        <p:spPr>
          <a:xfrm>
            <a:off x="1163638" y="5489575"/>
            <a:ext cx="5667375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Agar har bir o'quvchi uchun muzeyga kirish xarajatini 10 so'mga o'zgartirsangiz nima yuz beradi?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1520" name="Shape 8"/>
          <p:cNvSpPr>
            <a:spLocks noChangeArrowheads="1"/>
          </p:cNvSpPr>
          <p:nvPr/>
        </p:nvSpPr>
        <p:spPr bwMode="auto">
          <a:xfrm>
            <a:off x="7427913" y="5118100"/>
            <a:ext cx="6408737" cy="1466850"/>
          </a:xfrm>
          <a:prstGeom prst="roundRect">
            <a:avLst>
              <a:gd name="adj" fmla="val 2319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521" name="Image 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23138" y="5013325"/>
            <a:ext cx="27146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22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69963" y="6418263"/>
            <a:ext cx="27305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9"/>
          <p:cNvSpPr/>
          <p:nvPr/>
        </p:nvSpPr>
        <p:spPr>
          <a:xfrm>
            <a:off x="7799388" y="5489575"/>
            <a:ext cx="5667375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Agar xodimlar xarajatini 10 so'mga o'zgartirsangiz nima yuz beradi?</a:t>
            </a:r>
            <a:endParaRPr lang="en-US" dirty="0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0"/>
          <p:cNvSpPr>
            <a:spLocks noChangeArrowheads="1"/>
          </p:cNvSpPr>
          <p:nvPr/>
        </p:nvSpPr>
        <p:spPr bwMode="auto">
          <a:xfrm>
            <a:off x="1538288" y="596900"/>
            <a:ext cx="1151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4100"/>
              </a:lnSpc>
            </a:pPr>
            <a:r>
              <a:rPr lang="en-US" sz="3600" b="1" i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Times New Roman" pitchFamily="18" charset="0"/>
              </a:rPr>
              <a:t>6-MASHG'ULOT: DOIRAVIY DIAGRAMMA YARATISH</a:t>
            </a:r>
            <a:endParaRPr lang="en-US" sz="3600" i="1" dirty="0">
              <a:solidFill>
                <a:srgbClr val="7030A0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22531" name="Text 1"/>
          <p:cNvSpPr>
            <a:spLocks noChangeArrowheads="1"/>
          </p:cNvSpPr>
          <p:nvPr/>
        </p:nvSpPr>
        <p:spPr bwMode="auto">
          <a:xfrm>
            <a:off x="1538288" y="1368425"/>
            <a:ext cx="11553825" cy="754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Har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bir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o'quvchiga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barcha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besh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predmet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bo'yicha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xarajatlarni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endParaRPr lang="en-US" sz="2400" dirty="0" smtClean="0">
              <a:solidFill>
                <a:schemeClr val="bg1"/>
              </a:solidFill>
              <a:ea typeface="Roboto Condensed" charset="0"/>
              <a:cs typeface="Times New Roman" pitchFamily="18" charset="0"/>
            </a:endParaRPr>
          </a:p>
          <a:p>
            <a:r>
              <a:rPr lang="en-US" sz="2400" dirty="0" err="1" smtClean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ko'rsatish</a:t>
            </a:r>
            <a:r>
              <a:rPr lang="en-US" sz="2400" dirty="0" smtClean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uchun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doiraviy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diagramma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yarating</a:t>
            </a:r>
            <a:r>
              <a:rPr lang="en-US" sz="24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.</a:t>
            </a:r>
            <a:endParaRPr lang="en-US" sz="24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22543" name="Text 12"/>
          <p:cNvSpPr>
            <a:spLocks noChangeArrowheads="1"/>
          </p:cNvSpPr>
          <p:nvPr/>
        </p:nvSpPr>
        <p:spPr bwMode="auto">
          <a:xfrm>
            <a:off x="9321800" y="2422418"/>
            <a:ext cx="3778250" cy="2273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D2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dan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E7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gacha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kataklarni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belgilashingiz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kerak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Grafikga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mos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nom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berganingizga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ishonch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hosil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qiling</a:t>
            </a:r>
            <a:r>
              <a:rPr lang="en-US" sz="2800" dirty="0">
                <a:solidFill>
                  <a:schemeClr val="bg1"/>
                </a:solidFill>
                <a:ea typeface="Roboto Condensed" charset="0"/>
                <a:cs typeface="Times New Roman" pitchFamily="18" charset="0"/>
              </a:rPr>
              <a:t>.</a:t>
            </a:r>
            <a:endParaRPr lang="en-US" sz="2800" dirty="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9444" y="2422418"/>
            <a:ext cx="7439347" cy="4489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0"/>
          <p:cNvSpPr>
            <a:spLocks noChangeArrowheads="1"/>
          </p:cNvSpPr>
          <p:nvPr/>
        </p:nvSpPr>
        <p:spPr bwMode="auto">
          <a:xfrm>
            <a:off x="793750" y="728420"/>
            <a:ext cx="12131675" cy="1994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5550"/>
              </a:lnSpc>
            </a:pPr>
            <a:r>
              <a:rPr lang="en-US" sz="4400" b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Times New Roman" pitchFamily="18" charset="0"/>
              </a:rPr>
              <a:t>7-MASHG'ULOT: </a:t>
            </a:r>
            <a:endParaRPr lang="en-US" sz="4400" b="1" dirty="0" smtClean="0">
              <a:solidFill>
                <a:srgbClr val="7030A0"/>
              </a:solidFill>
              <a:latin typeface="Arial Black" pitchFamily="34" charset="0"/>
              <a:ea typeface="Hubot Sans Bold"/>
              <a:cs typeface="Times New Roman" pitchFamily="18" charset="0"/>
            </a:endParaRPr>
          </a:p>
          <a:p>
            <a:pPr algn="ctr">
              <a:lnSpc>
                <a:spcPts val="5550"/>
              </a:lnSpc>
            </a:pPr>
            <a:r>
              <a:rPr lang="en-US" sz="4400" b="1" dirty="0" smtClean="0">
                <a:solidFill>
                  <a:srgbClr val="7030A0"/>
                </a:solidFill>
                <a:latin typeface="Arial Black" pitchFamily="34" charset="0"/>
                <a:ea typeface="Hubot Sans Bold"/>
                <a:cs typeface="Times New Roman" pitchFamily="18" charset="0"/>
              </a:rPr>
              <a:t>JADVALNI </a:t>
            </a:r>
            <a:r>
              <a:rPr lang="en-US" sz="4400" b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Times New Roman" pitchFamily="18" charset="0"/>
              </a:rPr>
              <a:t>FORMATLASH</a:t>
            </a:r>
            <a:endParaRPr lang="en-US" sz="4400" dirty="0">
              <a:solidFill>
                <a:srgbClr val="7030A0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50" y="3176588"/>
            <a:ext cx="13042900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Elektron jadvalingizni vizual jihatdan jozibador qiling.</a:t>
            </a:r>
            <a:endParaRPr lang="en-US" sz="2400" dirty="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23556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3750" y="3794125"/>
            <a:ext cx="566738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Text 2"/>
          <p:cNvSpPr>
            <a:spLocks noChangeArrowheads="1"/>
          </p:cNvSpPr>
          <p:nvPr/>
        </p:nvSpPr>
        <p:spPr bwMode="auto">
          <a:xfrm>
            <a:off x="793750" y="4645025"/>
            <a:ext cx="41592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chemeClr val="bg1"/>
                </a:solidFill>
                <a:ea typeface="Hubot Sans Bold"/>
                <a:cs typeface="Times New Roman" pitchFamily="18" charset="0"/>
              </a:rPr>
              <a:t>YORLIQLARNI QALIN QILISH</a:t>
            </a:r>
            <a:endParaRPr lang="en-US" sz="24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50" y="5489575"/>
            <a:ext cx="4159250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Elektron jadvalingizdagi yorliqlarni qalin ko'rinishda joylang.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23559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5575" y="3794125"/>
            <a:ext cx="566738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0" name="Text 4"/>
          <p:cNvSpPr>
            <a:spLocks noChangeArrowheads="1"/>
          </p:cNvSpPr>
          <p:nvPr/>
        </p:nvSpPr>
        <p:spPr bwMode="auto">
          <a:xfrm>
            <a:off x="5235575" y="4645025"/>
            <a:ext cx="3852863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chemeClr val="bg1"/>
                </a:solidFill>
                <a:ea typeface="Hubot Sans Bold"/>
                <a:cs typeface="Times New Roman" pitchFamily="18" charset="0"/>
              </a:rPr>
              <a:t>MARKAZDAN TEKISLASH</a:t>
            </a:r>
            <a:endParaRPr lang="en-US" sz="24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575" y="5135563"/>
            <a:ext cx="4159250" cy="72548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Yorliqlarni markazdan tekislangan holda joylang.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2356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77400" y="3794125"/>
            <a:ext cx="568325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3" name="Text 6"/>
          <p:cNvSpPr>
            <a:spLocks noChangeArrowheads="1"/>
          </p:cNvSpPr>
          <p:nvPr/>
        </p:nvSpPr>
        <p:spPr bwMode="auto">
          <a:xfrm>
            <a:off x="9677400" y="4645025"/>
            <a:ext cx="2851150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chemeClr val="bg1"/>
                </a:solidFill>
                <a:ea typeface="Hubot Sans Bold"/>
                <a:cs typeface="Times New Roman" pitchFamily="18" charset="0"/>
              </a:rPr>
              <a:t>RANG VA CHETLAR</a:t>
            </a:r>
            <a:endParaRPr lang="en-US" sz="240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400" y="5135563"/>
            <a:ext cx="4159250" cy="72548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ea typeface="Roboto Condensed" pitchFamily="34" charset="-122"/>
                <a:cs typeface="Times New Roman" pitchFamily="18" charset="0"/>
              </a:rPr>
              <a:t>Ma'lumotlar bor kataklarning rangini va chetlarini o'zgartiring.</a:t>
            </a:r>
            <a:endParaRPr lang="en-US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466" y="336363"/>
            <a:ext cx="13543500" cy="762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0"/>
          <p:cNvSpPr/>
          <p:nvPr/>
        </p:nvSpPr>
        <p:spPr>
          <a:xfrm>
            <a:off x="793750" y="2663825"/>
            <a:ext cx="5670550" cy="7080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1" dirty="0">
                <a:solidFill>
                  <a:srgbClr val="7030A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O'YLAB KO'RING</a:t>
            </a:r>
            <a:endParaRPr lang="en-US" sz="4800" i="1" dirty="0">
              <a:solidFill>
                <a:srgbClr val="7030A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33475" y="3967163"/>
            <a:ext cx="7216775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. Elektron jadvallar modellari nima uchun foydali?</a:t>
            </a:r>
            <a:endParaRPr lang="en-US" sz="20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4581" name="Text 2"/>
          <p:cNvSpPr>
            <a:spLocks noChangeArrowheads="1"/>
          </p:cNvSpPr>
          <p:nvPr/>
        </p:nvSpPr>
        <p:spPr bwMode="auto">
          <a:xfrm>
            <a:off x="1133475" y="4584700"/>
            <a:ext cx="7216775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2.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Nega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hisob-kitoblar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uchun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elektron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jadvallardan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foydalanish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qog'ozda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bajargandan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ko'ra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Roboto Condensed" charset="0"/>
                <a:cs typeface="Roboto Condensed" charset="0"/>
              </a:rPr>
              <a:t>yaxshiroq</a:t>
            </a:r>
            <a:r>
              <a:rPr lang="en-US" sz="2000" dirty="0">
                <a:solidFill>
                  <a:schemeClr val="bg1"/>
                </a:solidFill>
                <a:ea typeface="Roboto Condensed" charset="0"/>
                <a:cs typeface="Roboto Condensed" charset="0"/>
              </a:rPr>
              <a:t>?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582" name="Shape 3"/>
          <p:cNvSpPr>
            <a:spLocks noChangeArrowheads="1"/>
          </p:cNvSpPr>
          <p:nvPr/>
        </p:nvSpPr>
        <p:spPr bwMode="auto">
          <a:xfrm>
            <a:off x="793750" y="3711575"/>
            <a:ext cx="30163" cy="1854200"/>
          </a:xfrm>
          <a:prstGeom prst="rect">
            <a:avLst/>
          </a:prstGeom>
          <a:solidFill>
            <a:srgbClr val="1E1E1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25</TotalTime>
  <Words>503</Words>
  <Application>Microsoft Office PowerPoint</Application>
  <PresentationFormat>Произвольный</PresentationFormat>
  <Paragraphs>99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Times New Roman</vt:lpstr>
      <vt:lpstr>Hubot Sans Bold</vt:lpstr>
      <vt:lpstr>Roboto Condensed</vt:lpstr>
      <vt:lpstr>Arial Black</vt:lpstr>
      <vt:lpstr>Calibri</vt:lpstr>
      <vt:lpstr>Wingdings 2</vt:lpstr>
      <vt:lpstr>Бумажная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8</cp:revision>
  <dcterms:created xsi:type="dcterms:W3CDTF">2026-01-30T16:48:38Z</dcterms:created>
  <dcterms:modified xsi:type="dcterms:W3CDTF">2026-02-17T13:17:06Z</dcterms:modified>
</cp:coreProperties>
</file>