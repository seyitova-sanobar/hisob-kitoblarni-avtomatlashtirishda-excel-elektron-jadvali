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2" r:id="rId1"/>
  </p:sldMasterIdLst>
  <p:notesMasterIdLst>
    <p:notesMasterId r:id="rId15"/>
  </p:notesMasterIdLst>
  <p:sldIdLst>
    <p:sldId id="266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7" r:id="rId12"/>
    <p:sldId id="265" r:id="rId13"/>
    <p:sldId id="269" r:id="rId14"/>
  </p:sldIdLst>
  <p:sldSz cx="14630400" cy="8229600"/>
  <p:notesSz cx="8229600" cy="14630400"/>
  <p:embeddedFontLst>
    <p:embeddedFont>
      <p:font typeface="Arial Black" pitchFamily="34" charset="0"/>
      <p:bold r:id="rId16"/>
    </p:embeddedFont>
    <p:embeddedFont>
      <p:font typeface="Book Antiqua" pitchFamily="18" charset="0"/>
      <p:regular r:id="rId17"/>
      <p:bold r:id="rId18"/>
      <p:italic r:id="rId19"/>
      <p:boldItalic r:id="rId20"/>
    </p:embeddedFont>
    <p:embeddedFont>
      <p:font typeface="Roboto Condensed" charset="0"/>
      <p:regular r:id="rId21"/>
    </p:embeddedFont>
    <p:embeddedFont>
      <p:font typeface="Consolas" pitchFamily="49" charset="0"/>
      <p:regular r:id="rId22"/>
      <p:bold r:id="rId23"/>
      <p:italic r:id="rId24"/>
      <p:boldItalic r:id="rId25"/>
    </p:embeddedFont>
    <p:embeddedFont>
      <p:font typeface="Calibri" pitchFamily="3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Book Antiqua" pitchFamily="18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1092" y="-378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F6CDABC-72F5-4CF4-81D7-430BBA31EC97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en-US" noProof="0" smtClean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9713119-2F9F-4D4A-8D1A-C2E80819A3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Book Antiqu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3928756-EE2A-43A1-9976-352C993250B4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Book Antiqu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81C5AAE-C3DE-4004-9159-C31304578352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Book Antiqu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7AAC441-CC21-48E2-9440-A424A106E7E6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Book Antiqu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66688D-E9F4-437F-AF1A-22F7441A12C3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Book Antiqu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E9D689-2126-49DE-9A58-A5DA32342E36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Book Antiqu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E1047A7-1342-4C2C-AF84-9A796058864A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Book Antiqu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550CF5B-3120-4A7C-9FE8-554DA33CB2D4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Book Antiqu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AE57109-AE61-4BBD-8D09-F20CA5EC88A6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Book Antiqu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430F0F4-EC00-4C8E-B370-2C9E4B4DB778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CoverOverlay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/>
          <p:nvPr/>
        </p:nvGrpSpPr>
        <p:grpSpPr>
          <a:xfrm>
            <a:off x="1910562" y="3465036"/>
            <a:ext cx="10846576" cy="1277273"/>
            <a:chOff x="1172584" y="1381459"/>
            <a:chExt cx="6779110" cy="1064394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6" name="TextBox 5"/>
            <p:cNvSpPr txBox="1"/>
            <p:nvPr/>
          </p:nvSpPr>
          <p:spPr>
            <a:xfrm>
              <a:off x="4147073" y="1381459"/>
              <a:ext cx="732573" cy="10643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7700" dirty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  <a:cs typeface="+mn-cs"/>
                </a:rPr>
                <a:t></a:t>
              </a:r>
            </a:p>
          </p:txBody>
        </p:sp>
        <p:cxnSp>
          <p:nvCxnSpPr>
            <p:cNvPr id="7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3346" y="1665285"/>
            <a:ext cx="10843709" cy="2078378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521434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653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6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9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12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65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18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71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24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AF8C679-CE58-4527-A106-5458D2F9A459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34AD26B2-BC08-4DD6-8417-C05B16B77C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5" name="TextBox 4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6" name="Straight Connector 13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4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0AF76-B7BD-4D26-8246-ABFE0CE18273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593F3-6A04-4987-B4CE-7AA4C639162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CoverOverlay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1876425" y="3465513"/>
            <a:ext cx="10845800" cy="1276350"/>
            <a:chOff x="1172584" y="1381459"/>
            <a:chExt cx="6779110" cy="1064394"/>
          </a:xfrm>
        </p:grpSpPr>
        <p:sp>
          <p:nvSpPr>
            <p:cNvPr id="6" name="TextBox 5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7" name="Straight Connector 9"/>
            <p:cNvCxnSpPr/>
            <p:nvPr/>
          </p:nvCxnSpPr>
          <p:spPr>
            <a:xfrm rot="10800000">
              <a:off x="1172584" y="1925570"/>
              <a:ext cx="3119661" cy="132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0"/>
            <p:cNvCxnSpPr/>
            <p:nvPr/>
          </p:nvCxnSpPr>
          <p:spPr>
            <a:xfrm rot="10800000">
              <a:off x="4832033" y="1926895"/>
              <a:ext cx="3119661" cy="264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065" y="1445829"/>
            <a:ext cx="12407541" cy="2292859"/>
          </a:xfrm>
        </p:spPr>
        <p:txBody>
          <a:bodyPr anchor="b"/>
          <a:lstStyle>
            <a:lvl1pPr algn="ctr">
              <a:defRPr sz="7700" b="0" cap="none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798" y="4520780"/>
            <a:ext cx="12375595" cy="1800224"/>
          </a:xfrm>
        </p:spPr>
        <p:txBody>
          <a:bodyPr/>
          <a:lstStyle>
            <a:lvl1pPr marL="0" indent="0" algn="ctr">
              <a:buNone/>
              <a:defRPr sz="2900">
                <a:solidFill>
                  <a:schemeClr val="tx2"/>
                </a:solidFill>
              </a:defRPr>
            </a:lvl1pPr>
            <a:lvl2pPr marL="65311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622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933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1244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6555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1866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7177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248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FBAEB3-FB20-4B74-8D34-7757990E1316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4FE920-289F-4749-8B1A-FD0F0820EB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6" name="TextBox 5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7" name="Straight Connector 14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15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1097280" y="2688336"/>
            <a:ext cx="6086246" cy="465246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7432242" y="2688336"/>
            <a:ext cx="6086246" cy="465246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8D8EA-70A8-4D05-AE23-CF8AA05884FA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71733-2CAB-4876-A76E-026E78542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3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9" name="Straight Connector 16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17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2496" y="2688336"/>
            <a:ext cx="5507914" cy="790042"/>
          </a:xfrm>
        </p:spPr>
        <p:txBody>
          <a:bodyPr anchor="b"/>
          <a:lstStyle>
            <a:lvl1pPr marL="0" indent="0" algn="ctr">
              <a:buNone/>
              <a:defRPr sz="3400" b="0">
                <a:solidFill>
                  <a:schemeClr val="tx2"/>
                </a:solidFill>
              </a:defRPr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1581" y="3537114"/>
            <a:ext cx="6086246" cy="3807562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03690" y="2688336"/>
            <a:ext cx="5515661" cy="790042"/>
          </a:xfrm>
        </p:spPr>
        <p:txBody>
          <a:bodyPr anchor="b"/>
          <a:lstStyle>
            <a:lvl1pPr marL="0" indent="0" algn="ctr">
              <a:buNone/>
              <a:defRPr sz="3400" b="0">
                <a:solidFill>
                  <a:schemeClr val="tx2"/>
                </a:solidFill>
              </a:defRPr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2" y="3533241"/>
            <a:ext cx="6079565" cy="3807562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69D90-0DDC-4280-815B-4EC2EAE0C767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1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1EF08-FE7C-4D77-A034-C767AC273D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4" name="TextBox 3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5" name="Straight Connector 14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15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E39837-1030-4270-8F5E-4A5F29352E89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45F250-A55C-4FA8-AC29-656F9DFBEA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634448-F2DF-47FC-B29D-511805F78872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FCC06-DDEC-407D-8342-F6247A08E6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5327" y="2013835"/>
            <a:ext cx="5475973" cy="2264305"/>
          </a:xfrm>
        </p:spPr>
        <p:txBody>
          <a:bodyPr anchor="b"/>
          <a:lstStyle>
            <a:lvl1pPr algn="l"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7203" y="671278"/>
            <a:ext cx="6586667" cy="6680118"/>
          </a:xfrm>
        </p:spPr>
        <p:txBody>
          <a:bodyPr anchor="ctr"/>
          <a:lstStyle>
            <a:lvl1pPr>
              <a:defRPr sz="3400"/>
            </a:lvl1pPr>
            <a:lvl2pPr>
              <a:defRPr sz="3100"/>
            </a:lvl2pPr>
            <a:lvl3pPr>
              <a:defRPr sz="2900"/>
            </a:lvl3pPr>
            <a:lvl4pPr>
              <a:defRPr sz="2600"/>
            </a:lvl4pPr>
            <a:lvl5pPr>
              <a:defRPr sz="23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55327" y="4324575"/>
            <a:ext cx="5458760" cy="3020747"/>
          </a:xfrm>
        </p:spPr>
        <p:txBody>
          <a:bodyPr>
            <a:normAutofit/>
          </a:bodyPr>
          <a:lstStyle>
            <a:lvl1pPr marL="0" indent="0">
              <a:buNone/>
              <a:defRPr sz="23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E2A34-FE68-4DBA-9253-2AA913F7E79D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187F4-728F-4FF9-9E41-95A8D4EA6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370" y="5602582"/>
            <a:ext cx="12427234" cy="773675"/>
          </a:xfrm>
        </p:spPr>
        <p:txBody>
          <a:bodyPr anchor="b"/>
          <a:lstStyle>
            <a:lvl1pPr algn="ctr"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3494067" y="800358"/>
            <a:ext cx="7635450" cy="4317619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 rtlCol="0">
            <a:normAutofit/>
          </a:bodyPr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1583" y="6389167"/>
            <a:ext cx="12410022" cy="965834"/>
          </a:xfrm>
        </p:spPr>
        <p:txBody>
          <a:bodyPr>
            <a:normAutofit/>
          </a:bodyPr>
          <a:lstStyle>
            <a:lvl1pPr marL="0" indent="0" algn="ctr">
              <a:buNone/>
              <a:defRPr sz="23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1B4A9-9AD6-4E1D-8C90-1C1068824199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172B1-EBC0-4ED6-AC38-DA6BA9F604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1876425" y="1670050"/>
            <a:ext cx="10845800" cy="1277938"/>
            <a:chOff x="1172584" y="1381459"/>
            <a:chExt cx="6779110" cy="1064394"/>
          </a:xfrm>
        </p:grpSpPr>
        <p:sp>
          <p:nvSpPr>
            <p:cNvPr id="5" name="TextBox 4"/>
            <p:cNvSpPr txBox="1">
              <a:spLocks noChangeArrowheads="1"/>
            </p:cNvSpPr>
            <p:nvPr/>
          </p:nvSpPr>
          <p:spPr bwMode="auto">
            <a:xfrm>
              <a:off x="4147375" y="1381459"/>
              <a:ext cx="732287" cy="1064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6" name="Straight Connector 15"/>
            <p:cNvCxnSpPr/>
            <p:nvPr/>
          </p:nvCxnSpPr>
          <p:spPr>
            <a:xfrm rot="10800000">
              <a:off x="1172584" y="1926217"/>
              <a:ext cx="3119661" cy="132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>
            <a:xfrm rot="10800000">
              <a:off x="4832033" y="1922251"/>
              <a:ext cx="3119661" cy="2644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9D1A2-8D84-4DE9-805B-9CD091646C69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ECFA5-3982-470C-B871-3BF10A3DE5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 rot="5400000">
            <a:off x="7350126" y="3371850"/>
            <a:ext cx="6577012" cy="1277937"/>
            <a:chOff x="1815339" y="1443976"/>
            <a:chExt cx="5480154" cy="798296"/>
          </a:xfrm>
        </p:grpSpPr>
        <p:sp>
          <p:nvSpPr>
            <p:cNvPr id="5" name="TextBox 4"/>
            <p:cNvSpPr txBox="1">
              <a:spLocks noChangeArrowheads="1"/>
            </p:cNvSpPr>
            <p:nvPr/>
          </p:nvSpPr>
          <p:spPr bwMode="auto">
            <a:xfrm>
              <a:off x="4097083" y="1443976"/>
              <a:ext cx="977513" cy="798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Book Antiqu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Book Antiqu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Book Antiqu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Book Antiqua" pitchFamily="18" charset="0"/>
                </a:defRPr>
              </a:lvl9pPr>
            </a:lstStyle>
            <a:p>
              <a:pPr>
                <a:defRPr/>
              </a:pPr>
              <a:r>
                <a:rPr lang="en-US" sz="7700" smtClean="0">
                  <a:solidFill>
                    <a:srgbClr val="DBA455"/>
                  </a:solidFill>
                  <a:latin typeface="Wingdings" pitchFamily="2" charset="2"/>
                  <a:cs typeface="Arial" charset="0"/>
                </a:rPr>
                <a:t></a:t>
              </a:r>
            </a:p>
          </p:txBody>
        </p:sp>
        <p:cxnSp>
          <p:nvCxnSpPr>
            <p:cNvPr id="6" name="Straight Connector 12"/>
            <p:cNvCxnSpPr/>
            <p:nvPr/>
          </p:nvCxnSpPr>
          <p:spPr>
            <a:xfrm flipH="1" flipV="1">
              <a:off x="1815339" y="1921962"/>
              <a:ext cx="2468252" cy="1983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3"/>
            <p:cNvCxnSpPr/>
            <p:nvPr/>
          </p:nvCxnSpPr>
          <p:spPr>
            <a:xfrm rot="10800000">
              <a:off x="4827241" y="1927912"/>
              <a:ext cx="2468252" cy="991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26497" y="671278"/>
            <a:ext cx="2685109" cy="668011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1582" y="1019826"/>
            <a:ext cx="8812667" cy="602858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43B1EA-6A75-4FE4-962D-F74209FB0D1C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7FC0D-F384-4165-A8F9-136751EE0F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9" name="Title Placeholder 1"/>
          <p:cNvSpPr>
            <a:spLocks noGrp="1"/>
          </p:cNvSpPr>
          <p:nvPr>
            <p:ph type="title"/>
          </p:nvPr>
        </p:nvSpPr>
        <p:spPr bwMode="auto">
          <a:xfrm>
            <a:off x="1101725" y="684213"/>
            <a:ext cx="12409488" cy="1265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  <a:endParaRPr lang="en-US" smtClean="0"/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19188" y="2698750"/>
            <a:ext cx="12392025" cy="465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6263" y="7392988"/>
            <a:ext cx="3414712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7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0B1A099-A939-49CF-9017-5202B920425E}" type="datetimeFigureOut">
              <a:rPr lang="en-US"/>
              <a:pPr>
                <a:defRPr/>
              </a:pPr>
              <a:t>2/17/2026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9038" y="7392988"/>
            <a:ext cx="4632325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700">
                <a:solidFill>
                  <a:schemeClr val="accent1">
                    <a:shade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23550" y="7392988"/>
            <a:ext cx="3413125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7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62EFE1-C9D5-4626-88DA-4B06DD237228}" type="slidenum">
              <a:rPr lang="en-US"/>
              <a:pPr>
                <a:defRPr/>
              </a:pPr>
              <a:t>‹#›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3" r:id="rId14"/>
    <p:sldLayoutId id="2147483824" r:id="rId15"/>
    <p:sldLayoutId id="2147483825" r:id="rId16"/>
    <p:sldLayoutId id="2147483826" r:id="rId17"/>
    <p:sldLayoutId id="2147483827" r:id="rId18"/>
    <p:sldLayoutId id="2147483828" r:id="rId19"/>
    <p:sldLayoutId id="2147483829" r:id="rId20"/>
  </p:sldLayoutIdLst>
  <p:hf sldNum="0" hdr="0" ftr="0" dt="0"/>
  <p:txStyles>
    <p:titleStyle>
      <a:lvl1pPr algn="ctr" defTabSz="1304925" rtl="0" eaLnBrk="0" fontAlgn="base" hangingPunct="0">
        <a:spcBef>
          <a:spcPct val="0"/>
        </a:spcBef>
        <a:spcAft>
          <a:spcPct val="0"/>
        </a:spcAft>
        <a:defRPr sz="77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2pPr>
      <a:lvl3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3pPr>
      <a:lvl4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4pPr>
      <a:lvl5pPr algn="ctr" defTabSz="1304925" rtl="0" eaLnBrk="0" fontAlgn="base" hangingPunct="0">
        <a:spcBef>
          <a:spcPct val="0"/>
        </a:spcBef>
        <a:spcAft>
          <a:spcPct val="0"/>
        </a:spcAft>
        <a:defRPr sz="7700">
          <a:solidFill>
            <a:schemeClr val="tx2"/>
          </a:solidFill>
          <a:latin typeface="Book Antiqua" pitchFamily="18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22288" indent="-522288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3400" kern="1200">
          <a:solidFill>
            <a:srgbClr val="262626"/>
          </a:solidFill>
          <a:latin typeface="+mn-lt"/>
          <a:ea typeface="+mn-ea"/>
          <a:cs typeface="+mn-cs"/>
        </a:defRPr>
      </a:lvl1pPr>
      <a:lvl2pPr marL="1109663" indent="-522288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"/>
        <a:defRPr sz="3100" kern="1200">
          <a:solidFill>
            <a:srgbClr val="262626"/>
          </a:solidFill>
          <a:latin typeface="+mn-lt"/>
          <a:ea typeface="+mn-ea"/>
          <a:cs typeface="+mn-cs"/>
        </a:defRPr>
      </a:lvl2pPr>
      <a:lvl3pPr marL="1631950" indent="-522288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2900" kern="1200">
          <a:solidFill>
            <a:srgbClr val="262626"/>
          </a:solidFill>
          <a:latin typeface="+mn-lt"/>
          <a:ea typeface="+mn-ea"/>
          <a:cs typeface="+mn-cs"/>
        </a:defRPr>
      </a:lvl3pPr>
      <a:lvl4pPr marL="2154238" indent="-455613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2600" kern="1200">
          <a:solidFill>
            <a:srgbClr val="262626"/>
          </a:solidFill>
          <a:latin typeface="+mn-lt"/>
          <a:ea typeface="+mn-ea"/>
          <a:cs typeface="+mn-cs"/>
        </a:defRPr>
      </a:lvl4pPr>
      <a:lvl5pPr marL="2611438" indent="-455613" algn="l" defTabSz="1304925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"/>
        <a:defRPr sz="2300" kern="1200">
          <a:solidFill>
            <a:srgbClr val="262626"/>
          </a:solidFill>
          <a:latin typeface="+mn-lt"/>
          <a:ea typeface="+mn-ea"/>
          <a:cs typeface="+mn-cs"/>
        </a:defRPr>
      </a:lvl5pPr>
      <a:lvl6pPr marL="3069618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526795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983972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441149" indent="-391866" algn="l" defTabSz="1306220" rtl="0" eaLnBrk="1" latinLnBrk="0" hangingPunct="1">
        <a:spcBef>
          <a:spcPts val="571"/>
        </a:spcBef>
        <a:buClr>
          <a:schemeClr val="accent1"/>
        </a:buClr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93346" y="369870"/>
            <a:ext cx="10843709" cy="3421294"/>
          </a:xfrm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eaLnBrk="1" hangingPunct="1">
              <a:defRPr/>
            </a:pPr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6-sinf 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Informatika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b="1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endParaRPr lang="en-US" b="1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74675" y="4521200"/>
            <a:ext cx="12863513" cy="3040063"/>
          </a:xfrm>
        </p:spPr>
        <p:txBody>
          <a:bodyPr/>
          <a:lstStyle/>
          <a:p>
            <a:pPr eaLnBrk="1" hangingPunct="1">
              <a:defRPr/>
            </a:pPr>
            <a:r>
              <a:rPr lang="en-US" sz="5400" b="1" i="1" dirty="0" err="1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Mavzu</a:t>
            </a:r>
            <a:r>
              <a:rPr lang="en-US" sz="5400" b="1" i="1" dirty="0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5400" b="1" i="1" dirty="0" err="1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5400" b="1" i="1" dirty="0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jadval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tushunchasi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Ma’lumotlarni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jadvalga</a:t>
            </a:r>
            <a:r>
              <a:rPr lang="en-US" sz="5400" b="1" i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400" b="1" i="1" dirty="0" err="1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kiritish</a:t>
            </a:r>
            <a:endParaRPr lang="en-US" sz="5400" b="1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50" y="2690813"/>
            <a:ext cx="7556500" cy="1417637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50" b="1" dirty="0">
                <a:solidFill>
                  <a:srgbClr val="7030A0"/>
                </a:solidFill>
                <a:latin typeface="Arial Black" pitchFamily="34" charset="0"/>
                <a:ea typeface="Hubot Sans Bold" pitchFamily="34" charset="-122"/>
                <a:cs typeface="Hubot Sans Bold" pitchFamily="34" charset="-120"/>
              </a:rPr>
              <a:t>ELEKTRON JADVALGA QAYTA ISHLOV BERISH</a:t>
            </a:r>
            <a:endParaRPr lang="en-US" sz="4450" dirty="0">
              <a:solidFill>
                <a:srgbClr val="7030A0"/>
              </a:solidFill>
              <a:latin typeface="Arial Black" pitchFamily="34" charset="0"/>
              <a:cs typeface="+mn-cs"/>
            </a:endParaRPr>
          </a:p>
        </p:txBody>
      </p:sp>
      <p:sp>
        <p:nvSpPr>
          <p:cNvPr id="24579" name="Text 1"/>
          <p:cNvSpPr>
            <a:spLocks noChangeArrowheads="1"/>
          </p:cNvSpPr>
          <p:nvPr/>
        </p:nvSpPr>
        <p:spPr bwMode="auto">
          <a:xfrm>
            <a:off x="793750" y="4449763"/>
            <a:ext cx="755650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Ushbu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modulda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jadvallar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ishlashning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asosiy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ko'nikmalarini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o'rganasiz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ko'nikmalar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Techno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kompyuter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muzeyiga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maktab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sayohatini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rejalashtirish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bo'yicha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yakuniy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loyihangizda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yordam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latin typeface="Times New Roman" pitchFamily="18" charset="0"/>
                <a:cs typeface="Times New Roman" pitchFamily="18" charset="0"/>
              </a:rPr>
              <a:t>beradi</a:t>
            </a:r>
            <a:r>
              <a:rPr lang="en-US" sz="3600" i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24580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81925" y="217488"/>
            <a:ext cx="6618288" cy="449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50" y="1295400"/>
            <a:ext cx="12541250" cy="568325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algn="ctr" fontAlgn="auto">
              <a:lnSpc>
                <a:spcPts val="44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550" b="1" dirty="0">
                <a:solidFill>
                  <a:srgbClr val="7030A0"/>
                </a:solidFill>
                <a:latin typeface="Arial Black" pitchFamily="34" charset="0"/>
                <a:ea typeface="Hubot Sans Bold" pitchFamily="34" charset="-122"/>
                <a:cs typeface="Hubot Sans Bold" pitchFamily="34" charset="-120"/>
              </a:rPr>
              <a:t>MODULNING ASOSIY MAVZULARI</a:t>
            </a:r>
            <a:endParaRPr lang="en-US" sz="3550" dirty="0">
              <a:solidFill>
                <a:srgbClr val="7030A0"/>
              </a:solidFill>
              <a:latin typeface="Arial Black" pitchFamily="34" charset="0"/>
              <a:cs typeface="+mn-cs"/>
            </a:endParaRPr>
          </a:p>
        </p:txBody>
      </p:sp>
      <p:sp>
        <p:nvSpPr>
          <p:cNvPr id="25603" name="Shape 1"/>
          <p:cNvSpPr>
            <a:spLocks noChangeArrowheads="1"/>
          </p:cNvSpPr>
          <p:nvPr/>
        </p:nvSpPr>
        <p:spPr bwMode="auto">
          <a:xfrm>
            <a:off x="793750" y="2657475"/>
            <a:ext cx="4195763" cy="2032000"/>
          </a:xfrm>
          <a:prstGeom prst="roundRect">
            <a:avLst>
              <a:gd name="adj" fmla="val 7199"/>
            </a:avLst>
          </a:prstGeom>
          <a:solidFill>
            <a:srgbClr val="92D05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604" name="Shape 2"/>
          <p:cNvSpPr>
            <a:spLocks noChangeArrowheads="1"/>
          </p:cNvSpPr>
          <p:nvPr/>
        </p:nvSpPr>
        <p:spPr bwMode="auto">
          <a:xfrm>
            <a:off x="793750" y="2625725"/>
            <a:ext cx="4195763" cy="122238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605" name="Shape 3"/>
          <p:cNvSpPr>
            <a:spLocks noChangeArrowheads="1"/>
          </p:cNvSpPr>
          <p:nvPr/>
        </p:nvSpPr>
        <p:spPr bwMode="auto">
          <a:xfrm>
            <a:off x="2551113" y="2316163"/>
            <a:ext cx="681037" cy="681037"/>
          </a:xfrm>
          <a:prstGeom prst="roundRect">
            <a:avLst>
              <a:gd name="adj" fmla="val 134384"/>
            </a:avLst>
          </a:prstGeom>
          <a:solidFill>
            <a:srgbClr val="C8CAC1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606" name="Text 4"/>
          <p:cNvSpPr>
            <a:spLocks noChangeArrowheads="1"/>
          </p:cNvSpPr>
          <p:nvPr/>
        </p:nvSpPr>
        <p:spPr bwMode="auto">
          <a:xfrm>
            <a:off x="2755900" y="2487613"/>
            <a:ext cx="2714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3400"/>
              </a:lnSpc>
            </a:pPr>
            <a:r>
              <a:rPr lang="en-US" sz="2100" b="1">
                <a:solidFill>
                  <a:srgbClr val="000000"/>
                </a:solidFill>
                <a:latin typeface="Hubot Sans Bold"/>
                <a:ea typeface="Hubot Sans Bold"/>
                <a:cs typeface="Hubot Sans Bold"/>
              </a:rPr>
              <a:t>1</a:t>
            </a:r>
            <a:endParaRPr lang="en-US" sz="2100"/>
          </a:p>
        </p:txBody>
      </p:sp>
      <p:sp>
        <p:nvSpPr>
          <p:cNvPr id="25607" name="Text 5"/>
          <p:cNvSpPr>
            <a:spLocks noChangeArrowheads="1"/>
          </p:cNvSpPr>
          <p:nvPr/>
        </p:nvSpPr>
        <p:spPr bwMode="auto">
          <a:xfrm>
            <a:off x="1050925" y="3224213"/>
            <a:ext cx="368141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lnSpc>
                <a:spcPts val="2750"/>
              </a:lnSpc>
            </a:pPr>
            <a:r>
              <a:rPr lang="en-US" sz="22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YORLIQLAR VA RAQAMLAR</a:t>
            </a:r>
            <a:endParaRPr lang="en-US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0925" y="4068763"/>
            <a:ext cx="3681413" cy="36353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Elektron jadvalga ma'lumot kiritish.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609" name="Shape 7"/>
          <p:cNvSpPr>
            <a:spLocks noChangeArrowheads="1"/>
          </p:cNvSpPr>
          <p:nvPr/>
        </p:nvSpPr>
        <p:spPr bwMode="auto">
          <a:xfrm>
            <a:off x="5353050" y="2625725"/>
            <a:ext cx="4195763" cy="2032000"/>
          </a:xfrm>
          <a:prstGeom prst="roundRect">
            <a:avLst>
              <a:gd name="adj" fmla="val 7199"/>
            </a:avLst>
          </a:prstGeom>
          <a:solidFill>
            <a:srgbClr val="92D05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610" name="Shape 8"/>
          <p:cNvSpPr>
            <a:spLocks noChangeArrowheads="1"/>
          </p:cNvSpPr>
          <p:nvPr/>
        </p:nvSpPr>
        <p:spPr bwMode="auto">
          <a:xfrm>
            <a:off x="5216525" y="2625725"/>
            <a:ext cx="4197350" cy="122238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611" name="Shape 9"/>
          <p:cNvSpPr>
            <a:spLocks noChangeArrowheads="1"/>
          </p:cNvSpPr>
          <p:nvPr/>
        </p:nvSpPr>
        <p:spPr bwMode="auto">
          <a:xfrm>
            <a:off x="6975475" y="2316163"/>
            <a:ext cx="679450" cy="681037"/>
          </a:xfrm>
          <a:prstGeom prst="roundRect">
            <a:avLst>
              <a:gd name="adj" fmla="val 134384"/>
            </a:avLst>
          </a:prstGeom>
          <a:solidFill>
            <a:srgbClr val="C8CAC1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612" name="Text 10"/>
          <p:cNvSpPr>
            <a:spLocks noChangeArrowheads="1"/>
          </p:cNvSpPr>
          <p:nvPr/>
        </p:nvSpPr>
        <p:spPr bwMode="auto">
          <a:xfrm>
            <a:off x="7178675" y="2487613"/>
            <a:ext cx="2730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3400"/>
              </a:lnSpc>
            </a:pPr>
            <a:r>
              <a:rPr lang="en-US" sz="2100" b="1">
                <a:solidFill>
                  <a:srgbClr val="000000"/>
                </a:solidFill>
                <a:latin typeface="Hubot Sans Bold"/>
                <a:ea typeface="Hubot Sans Bold"/>
                <a:cs typeface="Hubot Sans Bold"/>
              </a:rPr>
              <a:t>2</a:t>
            </a:r>
            <a:endParaRPr lang="en-US" sz="2100"/>
          </a:p>
        </p:txBody>
      </p:sp>
      <p:sp>
        <p:nvSpPr>
          <p:cNvPr id="25613" name="Text 11"/>
          <p:cNvSpPr>
            <a:spLocks noChangeArrowheads="1"/>
          </p:cNvSpPr>
          <p:nvPr/>
        </p:nvSpPr>
        <p:spPr bwMode="auto">
          <a:xfrm>
            <a:off x="5473700" y="3224213"/>
            <a:ext cx="3246438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>
              <a:lnSpc>
                <a:spcPts val="2750"/>
              </a:lnSpc>
            </a:pPr>
            <a:r>
              <a:rPr lang="en-US" sz="22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SODDA FORMULALAR</a:t>
            </a:r>
            <a:endParaRPr lang="en-US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73700" y="3714750"/>
            <a:ext cx="3683000" cy="3619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Formulalarni kiritish va nusxa olish.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615" name="Shape 13"/>
          <p:cNvSpPr>
            <a:spLocks noChangeArrowheads="1"/>
          </p:cNvSpPr>
          <p:nvPr/>
        </p:nvSpPr>
        <p:spPr bwMode="auto">
          <a:xfrm>
            <a:off x="9640888" y="2657475"/>
            <a:ext cx="4195762" cy="2032000"/>
          </a:xfrm>
          <a:prstGeom prst="roundRect">
            <a:avLst>
              <a:gd name="adj" fmla="val 7199"/>
            </a:avLst>
          </a:prstGeom>
          <a:solidFill>
            <a:srgbClr val="92D05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616" name="Shape 14"/>
          <p:cNvSpPr>
            <a:spLocks noChangeArrowheads="1"/>
          </p:cNvSpPr>
          <p:nvPr/>
        </p:nvSpPr>
        <p:spPr bwMode="auto">
          <a:xfrm>
            <a:off x="9640888" y="2625725"/>
            <a:ext cx="4195762" cy="122238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617" name="Shape 15"/>
          <p:cNvSpPr>
            <a:spLocks noChangeArrowheads="1"/>
          </p:cNvSpPr>
          <p:nvPr/>
        </p:nvSpPr>
        <p:spPr bwMode="auto">
          <a:xfrm>
            <a:off x="11398250" y="2316163"/>
            <a:ext cx="679450" cy="681037"/>
          </a:xfrm>
          <a:prstGeom prst="roundRect">
            <a:avLst>
              <a:gd name="adj" fmla="val 134384"/>
            </a:avLst>
          </a:prstGeom>
          <a:solidFill>
            <a:srgbClr val="C8CAC1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618" name="Text 16"/>
          <p:cNvSpPr>
            <a:spLocks noChangeArrowheads="1"/>
          </p:cNvSpPr>
          <p:nvPr/>
        </p:nvSpPr>
        <p:spPr bwMode="auto">
          <a:xfrm>
            <a:off x="11601450" y="2487613"/>
            <a:ext cx="2730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3400"/>
              </a:lnSpc>
            </a:pPr>
            <a:r>
              <a:rPr lang="en-US" sz="2100" b="1">
                <a:solidFill>
                  <a:srgbClr val="000000"/>
                </a:solidFill>
                <a:latin typeface="Hubot Sans Bold"/>
                <a:ea typeface="Hubot Sans Bold"/>
                <a:cs typeface="Hubot Sans Bold"/>
              </a:rPr>
              <a:t>3</a:t>
            </a:r>
            <a:endParaRPr lang="en-US" sz="2100"/>
          </a:p>
        </p:txBody>
      </p:sp>
      <p:sp>
        <p:nvSpPr>
          <p:cNvPr id="25619" name="Text 17"/>
          <p:cNvSpPr>
            <a:spLocks noChangeArrowheads="1"/>
          </p:cNvSpPr>
          <p:nvPr/>
        </p:nvSpPr>
        <p:spPr bwMode="auto">
          <a:xfrm>
            <a:off x="9898063" y="3224213"/>
            <a:ext cx="3681412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lnSpc>
                <a:spcPts val="2750"/>
              </a:lnSpc>
            </a:pPr>
            <a:r>
              <a:rPr lang="en-US" sz="22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DIAGRAMMA VA GRAFIKLAR</a:t>
            </a:r>
            <a:endParaRPr lang="en-US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898063" y="4068763"/>
            <a:ext cx="3681412" cy="36353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Ma'lumotlarni vizuallashtirish.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621" name="Shape 19"/>
          <p:cNvSpPr>
            <a:spLocks noChangeArrowheads="1"/>
          </p:cNvSpPr>
          <p:nvPr/>
        </p:nvSpPr>
        <p:spPr bwMode="auto">
          <a:xfrm>
            <a:off x="793750" y="5256213"/>
            <a:ext cx="6408738" cy="1676400"/>
          </a:xfrm>
          <a:prstGeom prst="roundRect">
            <a:avLst>
              <a:gd name="adj" fmla="val 8722"/>
            </a:avLst>
          </a:prstGeom>
          <a:solidFill>
            <a:srgbClr val="92D05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622" name="Shape 20"/>
          <p:cNvSpPr>
            <a:spLocks noChangeArrowheads="1"/>
          </p:cNvSpPr>
          <p:nvPr/>
        </p:nvSpPr>
        <p:spPr bwMode="auto">
          <a:xfrm>
            <a:off x="793750" y="5226050"/>
            <a:ext cx="6408738" cy="120650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623" name="Shape 21"/>
          <p:cNvSpPr>
            <a:spLocks noChangeArrowheads="1"/>
          </p:cNvSpPr>
          <p:nvPr/>
        </p:nvSpPr>
        <p:spPr bwMode="auto">
          <a:xfrm>
            <a:off x="3657600" y="4914900"/>
            <a:ext cx="681038" cy="681038"/>
          </a:xfrm>
          <a:prstGeom prst="roundRect">
            <a:avLst>
              <a:gd name="adj" fmla="val 134384"/>
            </a:avLst>
          </a:prstGeom>
          <a:solidFill>
            <a:srgbClr val="C8CAC1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624" name="Text 22"/>
          <p:cNvSpPr>
            <a:spLocks noChangeArrowheads="1"/>
          </p:cNvSpPr>
          <p:nvPr/>
        </p:nvSpPr>
        <p:spPr bwMode="auto">
          <a:xfrm>
            <a:off x="3862388" y="5086350"/>
            <a:ext cx="271462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3400"/>
              </a:lnSpc>
            </a:pPr>
            <a:r>
              <a:rPr lang="en-US" sz="2100" b="1">
                <a:solidFill>
                  <a:srgbClr val="000000"/>
                </a:solidFill>
                <a:latin typeface="Hubot Sans Bold"/>
                <a:ea typeface="Hubot Sans Bold"/>
                <a:cs typeface="Hubot Sans Bold"/>
              </a:rPr>
              <a:t>4</a:t>
            </a:r>
            <a:endParaRPr lang="en-US" sz="2100"/>
          </a:p>
        </p:txBody>
      </p:sp>
      <p:sp>
        <p:nvSpPr>
          <p:cNvPr id="25625" name="Text 23"/>
          <p:cNvSpPr>
            <a:spLocks noChangeArrowheads="1"/>
          </p:cNvSpPr>
          <p:nvPr/>
        </p:nvSpPr>
        <p:spPr bwMode="auto">
          <a:xfrm>
            <a:off x="1050925" y="5822950"/>
            <a:ext cx="4979988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>
              <a:lnSpc>
                <a:spcPts val="2750"/>
              </a:lnSpc>
            </a:pPr>
            <a:r>
              <a:rPr lang="en-US" sz="22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MA'LUMOTLARNI O'ZGARTIRISH</a:t>
            </a:r>
            <a:endParaRPr lang="en-US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50925" y="6313488"/>
            <a:ext cx="5892800" cy="3619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Jadvallarni tahrirlash va yangilash.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627" name="Shape 25"/>
          <p:cNvSpPr>
            <a:spLocks noChangeArrowheads="1"/>
          </p:cNvSpPr>
          <p:nvPr/>
        </p:nvSpPr>
        <p:spPr bwMode="auto">
          <a:xfrm>
            <a:off x="7427913" y="5256213"/>
            <a:ext cx="6408737" cy="1676400"/>
          </a:xfrm>
          <a:prstGeom prst="roundRect">
            <a:avLst>
              <a:gd name="adj" fmla="val 8722"/>
            </a:avLst>
          </a:prstGeom>
          <a:solidFill>
            <a:srgbClr val="92D05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628" name="Shape 26"/>
          <p:cNvSpPr>
            <a:spLocks noChangeArrowheads="1"/>
          </p:cNvSpPr>
          <p:nvPr/>
        </p:nvSpPr>
        <p:spPr bwMode="auto">
          <a:xfrm>
            <a:off x="7427913" y="5226050"/>
            <a:ext cx="6408737" cy="120650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629" name="Shape 27"/>
          <p:cNvSpPr>
            <a:spLocks noChangeArrowheads="1"/>
          </p:cNvSpPr>
          <p:nvPr/>
        </p:nvSpPr>
        <p:spPr bwMode="auto">
          <a:xfrm>
            <a:off x="10291763" y="4914900"/>
            <a:ext cx="681037" cy="681038"/>
          </a:xfrm>
          <a:prstGeom prst="roundRect">
            <a:avLst>
              <a:gd name="adj" fmla="val 134384"/>
            </a:avLst>
          </a:prstGeom>
          <a:solidFill>
            <a:srgbClr val="C8CAC1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5630" name="Text 28"/>
          <p:cNvSpPr>
            <a:spLocks noChangeArrowheads="1"/>
          </p:cNvSpPr>
          <p:nvPr/>
        </p:nvSpPr>
        <p:spPr bwMode="auto">
          <a:xfrm>
            <a:off x="10496550" y="5086350"/>
            <a:ext cx="2714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3400"/>
              </a:lnSpc>
            </a:pPr>
            <a:r>
              <a:rPr lang="en-US" sz="2100" b="1">
                <a:solidFill>
                  <a:srgbClr val="000000"/>
                </a:solidFill>
                <a:latin typeface="Hubot Sans Bold"/>
                <a:ea typeface="Hubot Sans Bold"/>
                <a:cs typeface="Hubot Sans Bold"/>
              </a:rPr>
              <a:t>5</a:t>
            </a:r>
            <a:endParaRPr lang="en-US" sz="2100"/>
          </a:p>
        </p:txBody>
      </p:sp>
      <p:sp>
        <p:nvSpPr>
          <p:cNvPr id="25631" name="Text 29"/>
          <p:cNvSpPr>
            <a:spLocks noChangeArrowheads="1"/>
          </p:cNvSpPr>
          <p:nvPr/>
        </p:nvSpPr>
        <p:spPr bwMode="auto">
          <a:xfrm>
            <a:off x="7685088" y="5822950"/>
            <a:ext cx="5187950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>
              <a:lnSpc>
                <a:spcPts val="2750"/>
              </a:lnSpc>
            </a:pPr>
            <a:r>
              <a:rPr lang="en-US" sz="22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MODELLASHTIRILGAN SSENARIY</a:t>
            </a:r>
            <a:endParaRPr lang="en-US" sz="22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685088" y="6313488"/>
            <a:ext cx="5894387" cy="3619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Agar savollariga javob berish.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50" y="1689100"/>
            <a:ext cx="12769850" cy="566738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algn="ctr" fontAlgn="auto">
              <a:lnSpc>
                <a:spcPts val="44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7030A0"/>
                </a:solidFill>
                <a:latin typeface="Times New Roman" pitchFamily="18" charset="0"/>
                <a:ea typeface="Hubot Sans Bold" pitchFamily="34" charset="-122"/>
                <a:cs typeface="Times New Roman" pitchFamily="18" charset="0"/>
              </a:rPr>
              <a:t>BOSHLASHDAN AVVAL BILISHINGIZ LOZIM</a:t>
            </a:r>
            <a:endParaRPr lang="en-US" sz="4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51" name="Shape 1"/>
          <p:cNvSpPr>
            <a:spLocks noChangeArrowheads="1"/>
          </p:cNvSpPr>
          <p:nvPr/>
        </p:nvSpPr>
        <p:spPr bwMode="auto">
          <a:xfrm>
            <a:off x="763588" y="2679700"/>
            <a:ext cx="60325" cy="914400"/>
          </a:xfrm>
          <a:prstGeom prst="rect">
            <a:avLst/>
          </a:prstGeom>
          <a:solidFill>
            <a:srgbClr val="C8CAC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52" name="Text 2"/>
          <p:cNvSpPr>
            <a:spLocks noChangeArrowheads="1"/>
          </p:cNvSpPr>
          <p:nvPr/>
        </p:nvSpPr>
        <p:spPr bwMode="auto">
          <a:xfrm>
            <a:off x="1081088" y="2709863"/>
            <a:ext cx="3716337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MATEMATIK FORMULALAR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81088" y="3200400"/>
            <a:ext cx="6092825" cy="363538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Hisob-kitoblarni bajarishda formulalardan foydalanish.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54" name="Shape 4"/>
          <p:cNvSpPr>
            <a:spLocks noChangeArrowheads="1"/>
          </p:cNvSpPr>
          <p:nvPr/>
        </p:nvSpPr>
        <p:spPr bwMode="auto">
          <a:xfrm>
            <a:off x="7426325" y="2679700"/>
            <a:ext cx="60325" cy="914400"/>
          </a:xfrm>
          <a:prstGeom prst="rect">
            <a:avLst/>
          </a:prstGeom>
          <a:solidFill>
            <a:srgbClr val="C8CAC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55" name="Text 5"/>
          <p:cNvSpPr>
            <a:spLocks noChangeArrowheads="1"/>
          </p:cNvSpPr>
          <p:nvPr/>
        </p:nvSpPr>
        <p:spPr bwMode="auto">
          <a:xfrm>
            <a:off x="7745413" y="2709863"/>
            <a:ext cx="4452937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GRAFIKLAR VA DIAGRAMMALAR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45413" y="3200400"/>
            <a:ext cx="6091237" cy="363538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Ma'lumotlarni tasvirlash va tuzish.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57" name="Shape 7"/>
          <p:cNvSpPr>
            <a:spLocks noChangeArrowheads="1"/>
          </p:cNvSpPr>
          <p:nvPr/>
        </p:nvSpPr>
        <p:spPr bwMode="auto">
          <a:xfrm>
            <a:off x="763588" y="3986213"/>
            <a:ext cx="60325" cy="1277937"/>
          </a:xfrm>
          <a:prstGeom prst="rect">
            <a:avLst/>
          </a:prstGeom>
          <a:solidFill>
            <a:srgbClr val="C8CAC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58" name="Text 8"/>
          <p:cNvSpPr>
            <a:spLocks noChangeArrowheads="1"/>
          </p:cNvSpPr>
          <p:nvPr/>
        </p:nvSpPr>
        <p:spPr bwMode="auto">
          <a:xfrm>
            <a:off x="1081088" y="4016375"/>
            <a:ext cx="3033712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DASTURIY VOSITALAR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81088" y="4506913"/>
            <a:ext cx="6092825" cy="725487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Jadval va diagrammalar yaratish uchun dasturlardan foydalanish.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60" name="Shape 10"/>
          <p:cNvSpPr>
            <a:spLocks noChangeArrowheads="1"/>
          </p:cNvSpPr>
          <p:nvPr/>
        </p:nvSpPr>
        <p:spPr bwMode="auto">
          <a:xfrm>
            <a:off x="7426325" y="3986213"/>
            <a:ext cx="60325" cy="1277937"/>
          </a:xfrm>
          <a:prstGeom prst="rect">
            <a:avLst/>
          </a:prstGeom>
          <a:solidFill>
            <a:srgbClr val="C8CAC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61" name="Text 11"/>
          <p:cNvSpPr>
            <a:spLocks noChangeArrowheads="1"/>
          </p:cNvSpPr>
          <p:nvPr/>
        </p:nvSpPr>
        <p:spPr bwMode="auto">
          <a:xfrm>
            <a:off x="7745413" y="4016375"/>
            <a:ext cx="28352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MA'LUMOT KIRITISH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45413" y="4506913"/>
            <a:ext cx="6091237" cy="36353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Kompyuterga ma'lumotlar va matnlarni kiritish.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63" name="Shape 13"/>
          <p:cNvSpPr>
            <a:spLocks noChangeArrowheads="1"/>
          </p:cNvSpPr>
          <p:nvPr/>
        </p:nvSpPr>
        <p:spPr bwMode="auto">
          <a:xfrm>
            <a:off x="763588" y="5656263"/>
            <a:ext cx="60325" cy="914400"/>
          </a:xfrm>
          <a:prstGeom prst="rect">
            <a:avLst/>
          </a:prstGeom>
          <a:solidFill>
            <a:srgbClr val="C8CAC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64" name="Text 14"/>
          <p:cNvSpPr>
            <a:spLocks noChangeArrowheads="1"/>
          </p:cNvSpPr>
          <p:nvPr/>
        </p:nvSpPr>
        <p:spPr bwMode="auto">
          <a:xfrm>
            <a:off x="1081088" y="5686425"/>
            <a:ext cx="4376737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NUSXALASH VA JOYLASHTIRISH</a:t>
            </a:r>
            <a:endParaRPr lang="en-US" sz="240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81088" y="6176963"/>
            <a:ext cx="6092825" cy="36353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Ma'lumotlarni samarali boshqarish.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66" name="Shape 16"/>
          <p:cNvSpPr>
            <a:spLocks noChangeArrowheads="1"/>
          </p:cNvSpPr>
          <p:nvPr/>
        </p:nvSpPr>
        <p:spPr bwMode="auto">
          <a:xfrm>
            <a:off x="7426325" y="5656263"/>
            <a:ext cx="60325" cy="914400"/>
          </a:xfrm>
          <a:prstGeom prst="rect">
            <a:avLst/>
          </a:prstGeom>
          <a:solidFill>
            <a:srgbClr val="C8CAC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 sz="200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67" name="Text 17"/>
          <p:cNvSpPr>
            <a:spLocks noChangeArrowheads="1"/>
          </p:cNvSpPr>
          <p:nvPr/>
        </p:nvSpPr>
        <p:spPr bwMode="auto">
          <a:xfrm>
            <a:off x="7745413" y="5686425"/>
            <a:ext cx="2833687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HUJJATNI SAQLASH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745413" y="6176963"/>
            <a:ext cx="6091237" cy="36353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err="1" smtClean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Hujjatni</a:t>
            </a:r>
            <a:r>
              <a:rPr lang="en-US" sz="2000" dirty="0" smtClean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saqlash va saqlangan hujjatni ochish.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50" y="1058863"/>
            <a:ext cx="8204200" cy="56673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44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2060"/>
                </a:solidFill>
                <a:latin typeface="Arial Black" pitchFamily="34" charset="0"/>
                <a:ea typeface="Hubot Sans Bold" pitchFamily="34" charset="-122"/>
                <a:cs typeface="Hubot Sans Bold" pitchFamily="34" charset="-120"/>
              </a:rPr>
              <a:t>ELEKTRON JADVALLARGA KIRISH</a:t>
            </a:r>
            <a:endParaRPr lang="en-US" sz="3600" dirty="0">
              <a:solidFill>
                <a:srgbClr val="002060"/>
              </a:solidFill>
              <a:latin typeface="Arial Black" pitchFamily="34" charset="0"/>
              <a:cs typeface="+mn-cs"/>
            </a:endParaRPr>
          </a:p>
        </p:txBody>
      </p:sp>
      <p:sp>
        <p:nvSpPr>
          <p:cNvPr id="28675" name="Text 1"/>
          <p:cNvSpPr>
            <a:spLocks noChangeArrowheads="1"/>
          </p:cNvSpPr>
          <p:nvPr/>
        </p:nvSpPr>
        <p:spPr bwMode="auto">
          <a:xfrm>
            <a:off x="793750" y="1962150"/>
            <a:ext cx="4205288" cy="250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850"/>
              </a:lnSpc>
            </a:pP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jadval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matn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raqamlarni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kiritish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hamda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formulalar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yordamida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hisob-kitoblarni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amalga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oshirishga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imkon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beradigan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dasturiy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ta'minot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Undan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grafik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diagrammalar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tuzishda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ham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foydalanish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28676" name="Text 2"/>
          <p:cNvSpPr>
            <a:spLocks noChangeArrowheads="1"/>
          </p:cNvSpPr>
          <p:nvPr/>
        </p:nvSpPr>
        <p:spPr bwMode="auto">
          <a:xfrm>
            <a:off x="793750" y="4670425"/>
            <a:ext cx="4205288" cy="243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850"/>
              </a:lnSpc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jadvallar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butun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dunyoda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daromad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xarajatlarni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hisoblash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ishlatiladi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O'qituvchingiz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sayohat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xarajatlarini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murabbiy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chipta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tushlik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aniqlash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ulardan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foydalanishi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2867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27700" y="1636713"/>
            <a:ext cx="8035925" cy="606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50" y="650875"/>
            <a:ext cx="4537075" cy="566738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44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>
                <a:solidFill>
                  <a:srgbClr val="002060"/>
                </a:solidFill>
                <a:latin typeface="Times New Roman" pitchFamily="18" charset="0"/>
                <a:ea typeface="Hubot Sans Bold" pitchFamily="34" charset="-122"/>
                <a:cs typeface="Times New Roman" pitchFamily="18" charset="0"/>
              </a:rPr>
              <a:t>KALIT SO'ZLAR</a:t>
            </a:r>
            <a:endParaRPr lang="en-US" sz="4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699" name="Shape 1"/>
          <p:cNvSpPr>
            <a:spLocks noChangeArrowheads="1"/>
          </p:cNvSpPr>
          <p:nvPr/>
        </p:nvSpPr>
        <p:spPr bwMode="auto">
          <a:xfrm>
            <a:off x="793750" y="1671638"/>
            <a:ext cx="6408738" cy="1306512"/>
          </a:xfrm>
          <a:prstGeom prst="roundRect">
            <a:avLst>
              <a:gd name="adj" fmla="val 2602"/>
            </a:avLst>
          </a:prstGeom>
          <a:solidFill>
            <a:srgbClr val="92D050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00" name="Text 2"/>
          <p:cNvSpPr>
            <a:spLocks noChangeArrowheads="1"/>
          </p:cNvSpPr>
          <p:nvPr/>
        </p:nvSpPr>
        <p:spPr bwMode="auto">
          <a:xfrm>
            <a:off x="1020763" y="1897063"/>
            <a:ext cx="28352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JADVAL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0763" y="2387600"/>
            <a:ext cx="5954712" cy="363538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rgbClr val="7030A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Qator va ustunlardan tashkil topgan dasturiy ta'minot.</a:t>
            </a: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02" name="Shape 4"/>
          <p:cNvSpPr>
            <a:spLocks noChangeArrowheads="1"/>
          </p:cNvSpPr>
          <p:nvPr/>
        </p:nvSpPr>
        <p:spPr bwMode="auto">
          <a:xfrm>
            <a:off x="7427913" y="1671638"/>
            <a:ext cx="6408737" cy="1306512"/>
          </a:xfrm>
          <a:prstGeom prst="roundRect">
            <a:avLst>
              <a:gd name="adj" fmla="val 2602"/>
            </a:avLst>
          </a:prstGeom>
          <a:solidFill>
            <a:srgbClr val="92D050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03" name="Text 5"/>
          <p:cNvSpPr>
            <a:spLocks noChangeArrowheads="1"/>
          </p:cNvSpPr>
          <p:nvPr/>
        </p:nvSpPr>
        <p:spPr bwMode="auto">
          <a:xfrm>
            <a:off x="7654925" y="1897063"/>
            <a:ext cx="28352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HISOBLASH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54925" y="2387600"/>
            <a:ext cx="5954713" cy="363538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rgbClr val="7030A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Natijani matematik ishlab chiqish usuli.</a:t>
            </a: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05" name="Shape 7"/>
          <p:cNvSpPr>
            <a:spLocks noChangeArrowheads="1"/>
          </p:cNvSpPr>
          <p:nvPr/>
        </p:nvSpPr>
        <p:spPr bwMode="auto">
          <a:xfrm>
            <a:off x="793750" y="3205163"/>
            <a:ext cx="6408738" cy="1306512"/>
          </a:xfrm>
          <a:prstGeom prst="roundRect">
            <a:avLst>
              <a:gd name="adj" fmla="val 2602"/>
            </a:avLst>
          </a:prstGeom>
          <a:solidFill>
            <a:srgbClr val="92D050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06" name="Text 8"/>
          <p:cNvSpPr>
            <a:spLocks noChangeArrowheads="1"/>
          </p:cNvSpPr>
          <p:nvPr/>
        </p:nvSpPr>
        <p:spPr bwMode="auto">
          <a:xfrm>
            <a:off x="1020763" y="3432175"/>
            <a:ext cx="28352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FORMULA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0763" y="3922713"/>
            <a:ext cx="5954712" cy="3619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rgbClr val="7030A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Natijalarni hisoblash uchun matematik hisoblash.</a:t>
            </a: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08" name="Shape 10"/>
          <p:cNvSpPr>
            <a:spLocks noChangeArrowheads="1"/>
          </p:cNvSpPr>
          <p:nvPr/>
        </p:nvSpPr>
        <p:spPr bwMode="auto">
          <a:xfrm>
            <a:off x="7427913" y="3205163"/>
            <a:ext cx="6408737" cy="1306512"/>
          </a:xfrm>
          <a:prstGeom prst="roundRect">
            <a:avLst>
              <a:gd name="adj" fmla="val 2602"/>
            </a:avLst>
          </a:prstGeom>
          <a:solidFill>
            <a:srgbClr val="92D050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09" name="Text 11"/>
          <p:cNvSpPr>
            <a:spLocks noChangeArrowheads="1"/>
          </p:cNvSpPr>
          <p:nvPr/>
        </p:nvSpPr>
        <p:spPr bwMode="auto">
          <a:xfrm>
            <a:off x="7654925" y="3432175"/>
            <a:ext cx="28352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KATAK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54925" y="3922713"/>
            <a:ext cx="5954713" cy="3619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rgbClr val="7030A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Elektron jadvalning eng kichik qismi.</a:t>
            </a: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11" name="Shape 13"/>
          <p:cNvSpPr>
            <a:spLocks noChangeArrowheads="1"/>
          </p:cNvSpPr>
          <p:nvPr/>
        </p:nvSpPr>
        <p:spPr bwMode="auto">
          <a:xfrm>
            <a:off x="793750" y="4738688"/>
            <a:ext cx="6408738" cy="1306512"/>
          </a:xfrm>
          <a:prstGeom prst="roundRect">
            <a:avLst>
              <a:gd name="adj" fmla="val 2602"/>
            </a:avLst>
          </a:prstGeom>
          <a:solidFill>
            <a:srgbClr val="92D050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12" name="Text 14"/>
          <p:cNvSpPr>
            <a:spLocks noChangeArrowheads="1"/>
          </p:cNvSpPr>
          <p:nvPr/>
        </p:nvSpPr>
        <p:spPr bwMode="auto">
          <a:xfrm>
            <a:off x="1020763" y="4965700"/>
            <a:ext cx="28352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USTUNLAR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20763" y="5456238"/>
            <a:ext cx="5954712" cy="3619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rgbClr val="7030A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Kataklarning vertikal chiziqlari, harflar bilan ifodalanadi.</a:t>
            </a: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14" name="Shape 16"/>
          <p:cNvSpPr>
            <a:spLocks noChangeArrowheads="1"/>
          </p:cNvSpPr>
          <p:nvPr/>
        </p:nvSpPr>
        <p:spPr bwMode="auto">
          <a:xfrm>
            <a:off x="7427913" y="4738688"/>
            <a:ext cx="6408737" cy="1306512"/>
          </a:xfrm>
          <a:prstGeom prst="roundRect">
            <a:avLst>
              <a:gd name="adj" fmla="val 2602"/>
            </a:avLst>
          </a:prstGeom>
          <a:solidFill>
            <a:srgbClr val="92D050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15" name="Text 17"/>
          <p:cNvSpPr>
            <a:spLocks noChangeArrowheads="1"/>
          </p:cNvSpPr>
          <p:nvPr/>
        </p:nvSpPr>
        <p:spPr bwMode="auto">
          <a:xfrm>
            <a:off x="7654925" y="4965700"/>
            <a:ext cx="28352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QATORLAR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54925" y="5456238"/>
            <a:ext cx="5954713" cy="3619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rgbClr val="7030A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Kataklarning gorizontal chiziqlari, raqamlar bilan ifodalanadi.</a:t>
            </a: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17" name="Shape 19"/>
          <p:cNvSpPr>
            <a:spLocks noChangeArrowheads="1"/>
          </p:cNvSpPr>
          <p:nvPr/>
        </p:nvSpPr>
        <p:spPr bwMode="auto">
          <a:xfrm>
            <a:off x="793750" y="6272213"/>
            <a:ext cx="6408738" cy="1306512"/>
          </a:xfrm>
          <a:prstGeom prst="roundRect">
            <a:avLst>
              <a:gd name="adj" fmla="val 2602"/>
            </a:avLst>
          </a:prstGeom>
          <a:solidFill>
            <a:srgbClr val="92D050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18" name="Text 20"/>
          <p:cNvSpPr>
            <a:spLocks noChangeArrowheads="1"/>
          </p:cNvSpPr>
          <p:nvPr/>
        </p:nvSpPr>
        <p:spPr bwMode="auto">
          <a:xfrm>
            <a:off x="1020763" y="6499225"/>
            <a:ext cx="28352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KATAK MANZILI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20763" y="6989763"/>
            <a:ext cx="5954712" cy="3619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rgbClr val="7030A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Ustun harfi va qator raqamidan iborat nom (masalan, C3).</a:t>
            </a: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20" name="Shape 22"/>
          <p:cNvSpPr>
            <a:spLocks noChangeArrowheads="1"/>
          </p:cNvSpPr>
          <p:nvPr/>
        </p:nvSpPr>
        <p:spPr bwMode="auto">
          <a:xfrm>
            <a:off x="7427913" y="6272213"/>
            <a:ext cx="6408737" cy="1306512"/>
          </a:xfrm>
          <a:prstGeom prst="roundRect">
            <a:avLst>
              <a:gd name="adj" fmla="val 2602"/>
            </a:avLst>
          </a:prstGeom>
          <a:solidFill>
            <a:srgbClr val="92D050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21" name="Text 23"/>
          <p:cNvSpPr>
            <a:spLocks noChangeArrowheads="1"/>
          </p:cNvSpPr>
          <p:nvPr/>
        </p:nvSpPr>
        <p:spPr bwMode="auto">
          <a:xfrm>
            <a:off x="7654925" y="6499225"/>
            <a:ext cx="28352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RAQAMLI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54925" y="6989763"/>
            <a:ext cx="5954713" cy="3619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rgbClr val="7030A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Raqamlardan tashkil topgan ma'lumotlar (masalan, 12, 2.4).</a:t>
            </a: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8988" y="628650"/>
            <a:ext cx="11393487" cy="5651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algn="ctr" fontAlgn="auto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7030A0"/>
                </a:solidFill>
                <a:latin typeface="Arial Black" pitchFamily="34" charset="0"/>
                <a:ea typeface="Hubot Sans Bold" pitchFamily="34" charset="-122"/>
                <a:cs typeface="Hubot Sans Bold" pitchFamily="34" charset="-120"/>
              </a:rPr>
              <a:t>1-AMALIY KO'NIKMA: ELEKTRON JADVAL NIMA?</a:t>
            </a:r>
            <a:endParaRPr lang="en-US" sz="3600" dirty="0">
              <a:solidFill>
                <a:srgbClr val="7030A0"/>
              </a:solidFill>
              <a:latin typeface="Arial Black" pitchFamily="34" charset="0"/>
              <a:cs typeface="+mn-cs"/>
            </a:endParaRPr>
          </a:p>
        </p:txBody>
      </p:sp>
      <p:sp>
        <p:nvSpPr>
          <p:cNvPr id="30723" name="Text 1"/>
          <p:cNvSpPr>
            <a:spLocks noChangeArrowheads="1"/>
          </p:cNvSpPr>
          <p:nvPr/>
        </p:nvSpPr>
        <p:spPr bwMode="auto">
          <a:xfrm>
            <a:off x="9637713" y="1731962"/>
            <a:ext cx="4210050" cy="164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2000" dirty="0" err="1">
                <a:latin typeface="Roboto Condensed" charset="0"/>
              </a:rPr>
              <a:t>Elektron</a:t>
            </a:r>
            <a:r>
              <a:rPr lang="en-US" sz="2000" dirty="0">
                <a:latin typeface="Roboto Condensed" charset="0"/>
              </a:rPr>
              <a:t> </a:t>
            </a:r>
            <a:r>
              <a:rPr lang="en-US" sz="2000" dirty="0" err="1">
                <a:latin typeface="Roboto Condensed" charset="0"/>
              </a:rPr>
              <a:t>jadval</a:t>
            </a:r>
            <a:r>
              <a:rPr lang="en-US" sz="2000" dirty="0">
                <a:latin typeface="Roboto Condensed" charset="0"/>
              </a:rPr>
              <a:t> </a:t>
            </a:r>
            <a:r>
              <a:rPr lang="en-US" sz="2000" b="1" dirty="0" err="1">
                <a:latin typeface="Roboto Condensed" charset="0"/>
              </a:rPr>
              <a:t>kataklardan</a:t>
            </a:r>
            <a:r>
              <a:rPr lang="en-US" sz="2000" dirty="0">
                <a:latin typeface="Roboto Condensed" charset="0"/>
              </a:rPr>
              <a:t> </a:t>
            </a:r>
            <a:r>
              <a:rPr lang="en-US" sz="2000" dirty="0" err="1">
                <a:latin typeface="Roboto Condensed" charset="0"/>
              </a:rPr>
              <a:t>iborat</a:t>
            </a:r>
            <a:r>
              <a:rPr lang="en-US" sz="2000" dirty="0">
                <a:latin typeface="Roboto Condensed" charset="0"/>
              </a:rPr>
              <a:t> </a:t>
            </a:r>
            <a:r>
              <a:rPr lang="en-US" sz="2000" dirty="0" err="1">
                <a:latin typeface="Roboto Condensed" charset="0"/>
              </a:rPr>
              <a:t>bo'lib</a:t>
            </a:r>
            <a:r>
              <a:rPr lang="en-US" sz="2000" dirty="0">
                <a:latin typeface="Roboto Condensed" charset="0"/>
              </a:rPr>
              <a:t>, </a:t>
            </a:r>
            <a:r>
              <a:rPr lang="en-US" sz="2000" dirty="0" err="1">
                <a:latin typeface="Roboto Condensed" charset="0"/>
              </a:rPr>
              <a:t>ular</a:t>
            </a:r>
            <a:r>
              <a:rPr lang="en-US" sz="2000" dirty="0">
                <a:latin typeface="Roboto Condensed" charset="0"/>
              </a:rPr>
              <a:t> </a:t>
            </a:r>
            <a:r>
              <a:rPr lang="en-US" sz="2000" dirty="0" err="1">
                <a:latin typeface="Roboto Condensed" charset="0"/>
              </a:rPr>
              <a:t>jadvalda</a:t>
            </a:r>
            <a:r>
              <a:rPr lang="en-US" sz="2000" dirty="0">
                <a:latin typeface="Roboto Condensed" charset="0"/>
              </a:rPr>
              <a:t> </a:t>
            </a:r>
            <a:r>
              <a:rPr lang="en-US" sz="2000" dirty="0" err="1">
                <a:latin typeface="Roboto Condensed" charset="0"/>
              </a:rPr>
              <a:t>to'rtburchak</a:t>
            </a:r>
            <a:r>
              <a:rPr lang="en-US" sz="2000" dirty="0">
                <a:latin typeface="Roboto Condensed" charset="0"/>
              </a:rPr>
              <a:t> </a:t>
            </a:r>
            <a:r>
              <a:rPr lang="en-US" sz="2000" dirty="0" err="1">
                <a:latin typeface="Roboto Condensed" charset="0"/>
              </a:rPr>
              <a:t>shakliga</a:t>
            </a:r>
            <a:r>
              <a:rPr lang="en-US" sz="2000" dirty="0">
                <a:latin typeface="Roboto Condensed" charset="0"/>
              </a:rPr>
              <a:t> </a:t>
            </a:r>
            <a:r>
              <a:rPr lang="en-US" sz="2000" dirty="0" err="1">
                <a:latin typeface="Roboto Condensed" charset="0"/>
              </a:rPr>
              <a:t>ega</a:t>
            </a:r>
            <a:r>
              <a:rPr lang="en-US" sz="2000" dirty="0">
                <a:latin typeface="Roboto Condensed" charset="0"/>
              </a:rPr>
              <a:t>. </a:t>
            </a:r>
            <a:r>
              <a:rPr lang="en-US" sz="2000" dirty="0" err="1">
                <a:latin typeface="Roboto Condensed" charset="0"/>
              </a:rPr>
              <a:t>Yuqoridagi</a:t>
            </a:r>
            <a:r>
              <a:rPr lang="en-US" sz="2000" dirty="0">
                <a:latin typeface="Roboto Condensed" charset="0"/>
              </a:rPr>
              <a:t> </a:t>
            </a:r>
            <a:r>
              <a:rPr lang="en-US" sz="2000" dirty="0" err="1">
                <a:latin typeface="Roboto Condensed" charset="0"/>
              </a:rPr>
              <a:t>harflar</a:t>
            </a:r>
            <a:r>
              <a:rPr lang="en-US" sz="2000" dirty="0">
                <a:latin typeface="Roboto Condensed" charset="0"/>
              </a:rPr>
              <a:t> </a:t>
            </a:r>
            <a:r>
              <a:rPr lang="en-US" sz="2000" b="1" dirty="0" err="1">
                <a:latin typeface="Roboto Condensed" charset="0"/>
              </a:rPr>
              <a:t>ustunlar</a:t>
            </a:r>
            <a:r>
              <a:rPr lang="en-US" sz="2000" b="1" dirty="0">
                <a:latin typeface="Roboto Condensed" charset="0"/>
              </a:rPr>
              <a:t> </a:t>
            </a:r>
            <a:r>
              <a:rPr lang="en-US" sz="2000" b="1" dirty="0" err="1">
                <a:latin typeface="Roboto Condensed" charset="0"/>
              </a:rPr>
              <a:t>nomini</a:t>
            </a:r>
            <a:r>
              <a:rPr lang="en-US" sz="2000" dirty="0">
                <a:latin typeface="Roboto Condensed" charset="0"/>
              </a:rPr>
              <a:t>, </a:t>
            </a:r>
            <a:r>
              <a:rPr lang="en-US" sz="2000" dirty="0" err="1">
                <a:latin typeface="Roboto Condensed" charset="0"/>
              </a:rPr>
              <a:t>pastdagi</a:t>
            </a:r>
            <a:r>
              <a:rPr lang="en-US" sz="2000" dirty="0">
                <a:latin typeface="Roboto Condensed" charset="0"/>
              </a:rPr>
              <a:t> </a:t>
            </a:r>
            <a:r>
              <a:rPr lang="en-US" sz="2000" dirty="0" err="1">
                <a:latin typeface="Roboto Condensed" charset="0"/>
              </a:rPr>
              <a:t>raqamlar</a:t>
            </a:r>
            <a:r>
              <a:rPr lang="en-US" sz="2000" dirty="0">
                <a:latin typeface="Roboto Condensed" charset="0"/>
              </a:rPr>
              <a:t> </a:t>
            </a:r>
            <a:r>
              <a:rPr lang="en-US" sz="2000" b="1" dirty="0" err="1">
                <a:latin typeface="Roboto Condensed" charset="0"/>
              </a:rPr>
              <a:t>qatorlar</a:t>
            </a:r>
            <a:r>
              <a:rPr lang="en-US" sz="2000" b="1" dirty="0">
                <a:latin typeface="Roboto Condensed" charset="0"/>
              </a:rPr>
              <a:t> </a:t>
            </a:r>
            <a:r>
              <a:rPr lang="en-US" sz="2000" b="1" dirty="0" err="1">
                <a:latin typeface="Roboto Condensed" charset="0"/>
              </a:rPr>
              <a:t>nomini</a:t>
            </a:r>
            <a:r>
              <a:rPr lang="en-US" sz="2000" dirty="0">
                <a:latin typeface="Roboto Condensed" charset="0"/>
              </a:rPr>
              <a:t> </a:t>
            </a:r>
            <a:r>
              <a:rPr lang="en-US" sz="2000" dirty="0" err="1">
                <a:latin typeface="Roboto Condensed" charset="0"/>
              </a:rPr>
              <a:t>anglatadi</a:t>
            </a:r>
            <a:r>
              <a:rPr lang="en-US" sz="2000" dirty="0">
                <a:latin typeface="Roboto Condensed" charset="0"/>
              </a:rPr>
              <a:t>.</a:t>
            </a:r>
            <a:endParaRPr lang="en-US" sz="2000" dirty="0"/>
          </a:p>
        </p:txBody>
      </p:sp>
      <p:sp>
        <p:nvSpPr>
          <p:cNvPr id="30724" name="Text 2"/>
          <p:cNvSpPr>
            <a:spLocks noChangeArrowheads="1"/>
          </p:cNvSpPr>
          <p:nvPr/>
        </p:nvSpPr>
        <p:spPr bwMode="auto">
          <a:xfrm>
            <a:off x="9637713" y="3373438"/>
            <a:ext cx="4210050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800"/>
              </a:lnSpc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katakning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ustun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harf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katak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joylashgan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qator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raqam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nomlaridan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tashkil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topgan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manzili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mavjud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30725" name="Text 3"/>
          <p:cNvSpPr>
            <a:spLocks noChangeArrowheads="1"/>
          </p:cNvSpPr>
          <p:nvPr/>
        </p:nvSpPr>
        <p:spPr bwMode="auto">
          <a:xfrm>
            <a:off x="9637713" y="4676775"/>
            <a:ext cx="421005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7030A0"/>
                </a:solidFill>
                <a:latin typeface="Arial Black" pitchFamily="34" charset="0"/>
                <a:ea typeface="Hubot Sans Bold"/>
                <a:cs typeface="Hubot Sans Bold"/>
              </a:rPr>
              <a:t>1.1-MASHG'ULOT: “KATAKLARNI TOPING!” O'YINI</a:t>
            </a:r>
            <a:endParaRPr lang="en-US" sz="2200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30726" name="Text 4"/>
          <p:cNvSpPr>
            <a:spLocks noChangeArrowheads="1"/>
          </p:cNvSpPr>
          <p:nvPr/>
        </p:nvSpPr>
        <p:spPr bwMode="auto">
          <a:xfrm>
            <a:off x="9637713" y="5630863"/>
            <a:ext cx="4210050" cy="176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800"/>
              </a:lnSpc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Sherigingiz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8x8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jadval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chizib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kataklarni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bo'yash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orqali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"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Kataklarni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toping!"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o'yinini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o'ynang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Maqsad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sherigingizning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barcha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rangli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kataklarini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topish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30727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6563" y="1477963"/>
            <a:ext cx="8475662" cy="607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8988" y="628650"/>
            <a:ext cx="10071100" cy="5651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2060"/>
                </a:solidFill>
                <a:latin typeface="Arial Black" pitchFamily="34" charset="0"/>
                <a:ea typeface="Hubot Sans Bold" pitchFamily="34" charset="-122"/>
                <a:cs typeface="Hubot Sans Bold" pitchFamily="34" charset="-120"/>
              </a:rPr>
              <a:t>1.2-MASHG'ULOT: KATAKLARNI ANIQLASH</a:t>
            </a:r>
            <a:endParaRPr lang="en-US" sz="3600" dirty="0">
              <a:solidFill>
                <a:srgbClr val="002060"/>
              </a:solidFill>
              <a:latin typeface="Arial Black" pitchFamily="34" charset="0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9637713" y="1731963"/>
            <a:ext cx="4210050" cy="1439862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1-2-mashg’ulot.xlsx </a:t>
            </a:r>
            <a:r>
              <a:rPr lang="en-US" dirty="0" err="1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elektron</a:t>
            </a:r>
            <a:r>
              <a:rPr lang="en-US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jadvalini oching. Sariq rang bilan ajratilgan o'nta katakning manzilini yozing (avval ustun, keyin qator). Sherigingiz bilan tekshiring.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48" name="Text 2"/>
          <p:cNvSpPr>
            <a:spLocks noChangeArrowheads="1"/>
          </p:cNvSpPr>
          <p:nvPr/>
        </p:nvSpPr>
        <p:spPr bwMode="auto">
          <a:xfrm>
            <a:off x="9637713" y="3171825"/>
            <a:ext cx="4210050" cy="128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750"/>
              </a:lnSpc>
            </a:pPr>
            <a:endParaRPr lang="en-US" sz="2200" b="1" dirty="0" smtClean="0">
              <a:solidFill>
                <a:srgbClr val="7030A0"/>
              </a:solidFill>
              <a:latin typeface="Arial Black" pitchFamily="34" charset="0"/>
              <a:ea typeface="Hubot Sans Bold"/>
              <a:cs typeface="Hubot Sans Bold"/>
            </a:endParaRPr>
          </a:p>
          <a:p>
            <a:pPr>
              <a:lnSpc>
                <a:spcPts val="2750"/>
              </a:lnSpc>
            </a:pPr>
            <a:r>
              <a:rPr lang="en-US" sz="2200" b="1" dirty="0" smtClean="0">
                <a:solidFill>
                  <a:srgbClr val="7030A0"/>
                </a:solidFill>
                <a:latin typeface="Arial Black" pitchFamily="34" charset="0"/>
                <a:ea typeface="Hubot Sans Bold"/>
                <a:cs typeface="Hubot Sans Bold"/>
              </a:rPr>
              <a:t>2-AMALIY </a:t>
            </a:r>
            <a:r>
              <a:rPr lang="en-US" sz="2200" b="1" dirty="0">
                <a:solidFill>
                  <a:srgbClr val="7030A0"/>
                </a:solidFill>
                <a:latin typeface="Arial Black" pitchFamily="34" charset="0"/>
                <a:ea typeface="Hubot Sans Bold"/>
                <a:cs typeface="Hubot Sans Bold"/>
              </a:rPr>
              <a:t>KO'NIKMA: MA'LUMOTLARNI KIRITISH</a:t>
            </a:r>
            <a:endParaRPr lang="en-US" sz="2200" dirty="0"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37713" y="4676775"/>
            <a:ext cx="4210050" cy="143986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Elektron jadvalga matn (</a:t>
            </a:r>
            <a:r>
              <a:rPr lang="en-US" b="1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yorliq</a:t>
            </a:r>
            <a:r>
              <a:rPr lang="en-US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) va </a:t>
            </a:r>
            <a:r>
              <a:rPr lang="en-US" b="1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raqamli</a:t>
            </a:r>
            <a:r>
              <a:rPr lang="en-US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ma'lumotlarni kiritish mumkin. Yorliqlar ma'lumotlarni tavsiflaydi, raqamlar esa hisob-kitoblar uchun ishlatiladi.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37713" y="6318250"/>
            <a:ext cx="4210050" cy="10795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Katakni bosib, klaviatura orqali ma'lumot kiriting. Tahrirlash uchun katakni ikki marta bosing yoki formula satridan foydalaning.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1751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8988" y="1581150"/>
            <a:ext cx="8261350" cy="581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3875" y="390524"/>
            <a:ext cx="13514762" cy="738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163" y="627063"/>
            <a:ext cx="9229725" cy="5651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44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550" b="1" dirty="0">
                <a:solidFill>
                  <a:srgbClr val="002060"/>
                </a:solidFill>
                <a:latin typeface="Times New Roman" pitchFamily="18" charset="0"/>
                <a:ea typeface="Hubot Sans Bold" pitchFamily="34" charset="-122"/>
                <a:cs typeface="Times New Roman" pitchFamily="18" charset="0"/>
              </a:rPr>
              <a:t>MA'LUMOT KIRITISH VA TAHRIRLASH</a:t>
            </a:r>
            <a:endParaRPr lang="en-US" sz="355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71" name="Text 1"/>
          <p:cNvSpPr>
            <a:spLocks noChangeArrowheads="1"/>
          </p:cNvSpPr>
          <p:nvPr/>
        </p:nvSpPr>
        <p:spPr bwMode="auto">
          <a:xfrm>
            <a:off x="9637713" y="1733550"/>
            <a:ext cx="4208462" cy="108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800"/>
              </a:lnSpc>
            </a:pPr>
            <a:r>
              <a:rPr lang="en-US" sz="2000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Yorliqlar</a:t>
            </a:r>
            <a:r>
              <a:rPr lang="en-US" sz="2000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000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ko'zga</a:t>
            </a:r>
            <a:r>
              <a:rPr lang="en-US" sz="2000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000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tashlanib</a:t>
            </a:r>
            <a:r>
              <a:rPr lang="en-US" sz="2000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000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turishi</a:t>
            </a:r>
            <a:r>
              <a:rPr lang="en-US" sz="2000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000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uchun</a:t>
            </a:r>
            <a:r>
              <a:rPr lang="en-US" sz="2000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000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qalin</a:t>
            </a:r>
            <a:r>
              <a:rPr lang="en-US" sz="2000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000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formatlangan</a:t>
            </a:r>
            <a:r>
              <a:rPr lang="en-US" sz="2000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. </a:t>
            </a:r>
            <a:r>
              <a:rPr lang="en-US" sz="2000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Matnni</a:t>
            </a:r>
            <a:r>
              <a:rPr lang="en-US" sz="2000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000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o'zgartirish</a:t>
            </a:r>
            <a:r>
              <a:rPr lang="en-US" sz="2000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000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uchun</a:t>
            </a:r>
            <a:r>
              <a:rPr lang="en-US" sz="2000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formula </a:t>
            </a:r>
            <a:r>
              <a:rPr lang="en-US" sz="2000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qatorini</a:t>
            </a:r>
            <a:r>
              <a:rPr lang="en-US" sz="2000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2000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bosing</a:t>
            </a:r>
            <a:r>
              <a:rPr lang="en-US" sz="2000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.</a:t>
            </a:r>
            <a:endParaRPr lang="en-US" sz="2000" dirty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32772" name="Text 2"/>
          <p:cNvSpPr>
            <a:spLocks noChangeArrowheads="1"/>
          </p:cNvSpPr>
          <p:nvPr/>
        </p:nvSpPr>
        <p:spPr bwMode="auto">
          <a:xfrm>
            <a:off x="9637713" y="3043238"/>
            <a:ext cx="282892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Hubot Sans Bold"/>
              </a:rPr>
              <a:t>2.1-MASHG'ULOT</a:t>
            </a:r>
            <a:endParaRPr lang="en-US" sz="2200" dirty="0">
              <a:solidFill>
                <a:srgbClr val="7030A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32773" name="Text 3"/>
          <p:cNvSpPr>
            <a:spLocks noChangeArrowheads="1"/>
          </p:cNvSpPr>
          <p:nvPr/>
        </p:nvSpPr>
        <p:spPr bwMode="auto">
          <a:xfrm>
            <a:off x="9637713" y="3622675"/>
            <a:ext cx="4208462" cy="108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800"/>
              </a:lnSpc>
            </a:pP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“2-1-mashg’ulot.xlsx” </a:t>
            </a:r>
            <a:r>
              <a:rPr lang="en-US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elektron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jadvalini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oching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va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Birinchi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raqam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hamda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 </a:t>
            </a:r>
            <a:r>
              <a:rPr lang="en-US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Ikkinchi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raqam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yorliqlari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ostiga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raqamlarni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kiriting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74" name="Text 4"/>
          <p:cNvSpPr>
            <a:spLocks noChangeArrowheads="1"/>
          </p:cNvSpPr>
          <p:nvPr/>
        </p:nvSpPr>
        <p:spPr bwMode="auto">
          <a:xfrm>
            <a:off x="9637713" y="4932363"/>
            <a:ext cx="282892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Hubot Sans Bold"/>
              </a:rPr>
              <a:t>2.2-MASHG'ULOT</a:t>
            </a:r>
            <a:endParaRPr lang="en-US" sz="2200" dirty="0">
              <a:solidFill>
                <a:srgbClr val="7030A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32775" name="Text 5"/>
          <p:cNvSpPr>
            <a:spLocks noChangeArrowheads="1"/>
          </p:cNvSpPr>
          <p:nvPr/>
        </p:nvSpPr>
        <p:spPr bwMode="auto">
          <a:xfrm>
            <a:off x="9637713" y="5510213"/>
            <a:ext cx="4208462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800"/>
              </a:lnSpc>
            </a:pP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C1 </a:t>
            </a:r>
            <a:r>
              <a:rPr lang="en-US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katakka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“</a:t>
            </a:r>
            <a:r>
              <a:rPr lang="en-US" b="1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Jami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” </a:t>
            </a:r>
            <a:r>
              <a:rPr lang="en-US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yorlig'ini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dirty="0" err="1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qo'shing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76" name="Text 6"/>
          <p:cNvSpPr>
            <a:spLocks noChangeArrowheads="1"/>
          </p:cNvSpPr>
          <p:nvPr/>
        </p:nvSpPr>
        <p:spPr bwMode="auto">
          <a:xfrm>
            <a:off x="9637713" y="6097588"/>
            <a:ext cx="282892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endParaRPr lang="ru-RU" sz="2200">
              <a:solidFill>
                <a:srgbClr val="7030A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9637713" y="6677025"/>
            <a:ext cx="4208462" cy="722313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750" dirty="0">
              <a:latin typeface="+mn-lt"/>
              <a:cs typeface="+mn-cs"/>
            </a:endParaRPr>
          </a:p>
        </p:txBody>
      </p:sp>
      <p:pic>
        <p:nvPicPr>
          <p:cNvPr id="32778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28700" y="1733550"/>
            <a:ext cx="7161213" cy="374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Содержимое 1"/>
          <p:cNvSpPr>
            <a:spLocks noGrp="1"/>
          </p:cNvSpPr>
          <p:nvPr>
            <p:ph idx="1"/>
          </p:nvPr>
        </p:nvSpPr>
        <p:spPr>
          <a:xfrm>
            <a:off x="1119188" y="1350963"/>
            <a:ext cx="12392025" cy="60007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3600" dirty="0" err="1" smtClean="0">
                <a:solidFill>
                  <a:schemeClr val="tx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Berilgan</a:t>
            </a: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3600" dirty="0" err="1" smtClean="0">
                <a:solidFill>
                  <a:schemeClr val="tx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kataklarga</a:t>
            </a: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3600" dirty="0" err="1" smtClean="0">
                <a:solidFill>
                  <a:schemeClr val="tx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yorliq</a:t>
            </a: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sz="3600" dirty="0" err="1" smtClean="0">
                <a:solidFill>
                  <a:schemeClr val="tx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va</a:t>
            </a: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3600" dirty="0" err="1" smtClean="0">
                <a:solidFill>
                  <a:schemeClr val="tx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ma'lumotlarni</a:t>
            </a: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 </a:t>
            </a:r>
            <a:r>
              <a:rPr lang="en-US" sz="3600" dirty="0" err="1" smtClean="0">
                <a:solidFill>
                  <a:schemeClr val="tx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kiriting</a:t>
            </a:r>
            <a:r>
              <a:rPr lang="en-US" sz="3600" dirty="0" smtClean="0">
                <a:solidFill>
                  <a:schemeClr val="tx1"/>
                </a:solidFill>
                <a:latin typeface="Times New Roman" pitchFamily="18" charset="0"/>
                <a:ea typeface="Roboto Condensed" charset="0"/>
                <a:cs typeface="Roboto Condensed" charset="0"/>
              </a:rPr>
              <a:t>.</a:t>
            </a:r>
            <a:endParaRPr lang="ru-RU" dirty="0" smtClean="0"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33795" name="Заголовок 2"/>
          <p:cNvSpPr>
            <a:spLocks noGrp="1"/>
          </p:cNvSpPr>
          <p:nvPr>
            <p:ph type="title"/>
          </p:nvPr>
        </p:nvSpPr>
        <p:spPr>
          <a:xfrm>
            <a:off x="1101725" y="217488"/>
            <a:ext cx="12409488" cy="1133475"/>
          </a:xfrm>
        </p:spPr>
        <p:txBody>
          <a:bodyPr/>
          <a:lstStyle/>
          <a:p>
            <a:r>
              <a:rPr lang="en-US" sz="4000" b="1" dirty="0" smtClean="0">
                <a:solidFill>
                  <a:srgbClr val="7030A0"/>
                </a:solidFill>
                <a:latin typeface="Times New Roman" pitchFamily="18" charset="0"/>
                <a:ea typeface="Hubot Sans Bold"/>
                <a:cs typeface="Hubot Sans Bold"/>
              </a:rPr>
              <a:t>2.3-MASHG'ULOT</a:t>
            </a:r>
            <a:endParaRPr lang="ru-RU" sz="4000" dirty="0" smtClean="0">
              <a:ea typeface="Times New Roman" pitchFamily="18" charset="0"/>
              <a:cs typeface="Times New Roman" pitchFamily="18" charset="0"/>
            </a:endParaRPr>
          </a:p>
        </p:txBody>
      </p:sp>
      <p:pic>
        <p:nvPicPr>
          <p:cNvPr id="3379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19850" y="1350963"/>
            <a:ext cx="7659688" cy="600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00213" y="3086100"/>
            <a:ext cx="4003675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0"/>
          <p:cNvSpPr>
            <a:spLocks noChangeArrowheads="1"/>
          </p:cNvSpPr>
          <p:nvPr/>
        </p:nvSpPr>
        <p:spPr bwMode="auto">
          <a:xfrm>
            <a:off x="2220913" y="676275"/>
            <a:ext cx="99504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900"/>
              </a:lnSpc>
            </a:pPr>
            <a:r>
              <a:rPr lang="en-US" sz="2300" b="1" dirty="0">
                <a:solidFill>
                  <a:srgbClr val="002060"/>
                </a:solidFill>
                <a:latin typeface="Times New Roman" pitchFamily="18" charset="0"/>
                <a:ea typeface="Hubot Sans Bold"/>
                <a:cs typeface="Hubot Sans Bold"/>
              </a:rPr>
              <a:t>3-AMALIY 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ea typeface="Hubot Sans Bold"/>
                <a:cs typeface="Hubot Sans Bold"/>
              </a:rPr>
              <a:t>KO'NIKMA</a:t>
            </a:r>
            <a:r>
              <a:rPr lang="en-US" sz="2300" b="1" dirty="0">
                <a:solidFill>
                  <a:srgbClr val="002060"/>
                </a:solidFill>
                <a:latin typeface="Times New Roman" pitchFamily="18" charset="0"/>
                <a:ea typeface="Hubot Sans Bold"/>
                <a:cs typeface="Hubot Sans Bold"/>
              </a:rPr>
              <a:t>: SODDA FORMULALARDAN FOYDALANISH</a:t>
            </a:r>
            <a:endParaRPr lang="en-US" sz="2300" dirty="0">
              <a:solidFill>
                <a:srgbClr val="00206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34819" name="Text 1"/>
          <p:cNvSpPr>
            <a:spLocks noChangeArrowheads="1"/>
          </p:cNvSpPr>
          <p:nvPr/>
        </p:nvSpPr>
        <p:spPr bwMode="auto">
          <a:xfrm>
            <a:off x="2220913" y="1644650"/>
            <a:ext cx="2301875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MATEMATIK BELGILAR:</a:t>
            </a:r>
          </a:p>
          <a:p>
            <a:r>
              <a:rPr lang="en-US" sz="2000" b="1" dirty="0" err="1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Qo’shisg</a:t>
            </a: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:   +</a:t>
            </a:r>
          </a:p>
          <a:p>
            <a:r>
              <a:rPr lang="en-US" sz="2000" b="1" dirty="0" err="1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Ayirish</a:t>
            </a: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   -</a:t>
            </a:r>
          </a:p>
          <a:p>
            <a:r>
              <a:rPr lang="en-US" sz="2000" b="1" dirty="0" err="1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Bo’lish</a:t>
            </a: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:  /</a:t>
            </a:r>
          </a:p>
          <a:p>
            <a:r>
              <a:rPr lang="en-US" sz="2000" b="1" dirty="0" err="1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Ko’paytirish</a:t>
            </a: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820" name="Shape 2"/>
          <p:cNvSpPr>
            <a:spLocks noChangeArrowheads="1"/>
          </p:cNvSpPr>
          <p:nvPr/>
        </p:nvSpPr>
        <p:spPr bwMode="auto">
          <a:xfrm>
            <a:off x="2220913" y="3633788"/>
            <a:ext cx="3332162" cy="1317625"/>
          </a:xfrm>
          <a:prstGeom prst="roundRect">
            <a:avLst>
              <a:gd name="adj" fmla="val 1681"/>
            </a:avLst>
          </a:prstGeom>
          <a:noFill/>
          <a:ln w="7620">
            <a:solidFill>
              <a:srgbClr val="000000">
                <a:alpha val="7843"/>
              </a:srgbClr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4821" name="Shape 3"/>
          <p:cNvSpPr>
            <a:spLocks noChangeArrowheads="1"/>
          </p:cNvSpPr>
          <p:nvPr/>
        </p:nvSpPr>
        <p:spPr bwMode="auto">
          <a:xfrm>
            <a:off x="2228850" y="3641725"/>
            <a:ext cx="3316288" cy="325438"/>
          </a:xfrm>
          <a:prstGeom prst="rect">
            <a:avLst/>
          </a:prstGeom>
          <a:solidFill>
            <a:srgbClr val="FFFFFF">
              <a:alpha val="3922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486150" y="3706813"/>
            <a:ext cx="801688" cy="195262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50" dirty="0">
              <a:latin typeface="+mn-lt"/>
              <a:cs typeface="+mn-cs"/>
            </a:endParaRPr>
          </a:p>
        </p:txBody>
      </p:sp>
      <p:sp>
        <p:nvSpPr>
          <p:cNvPr id="34823" name="Shape 7"/>
          <p:cNvSpPr>
            <a:spLocks noChangeArrowheads="1"/>
          </p:cNvSpPr>
          <p:nvPr/>
        </p:nvSpPr>
        <p:spPr bwMode="auto">
          <a:xfrm>
            <a:off x="2228850" y="3967163"/>
            <a:ext cx="3316288" cy="325437"/>
          </a:xfrm>
          <a:prstGeom prst="rect">
            <a:avLst/>
          </a:prstGeom>
          <a:solidFill>
            <a:srgbClr val="000000">
              <a:alpha val="3922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3486150" y="4357688"/>
            <a:ext cx="801688" cy="195262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50" dirty="0">
              <a:latin typeface="+mn-lt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220754" y="5059323"/>
            <a:ext cx="3331845" cy="1433944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Times New Roman" pitchFamily="18" charset="0"/>
              <a:ea typeface="Roboto Condensed" pitchFamily="34" charset="-122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Formulani</a:t>
            </a:r>
            <a:r>
              <a:rPr lang="en-US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(=) tenglik belgisi bilan boshlang. Masalan, A1 katakka </a:t>
            </a:r>
            <a:r>
              <a:rPr lang="en-US" dirty="0">
                <a:highlight>
                  <a:srgbClr val="DBDBD6"/>
                </a:highlight>
                <a:latin typeface="Times New Roman" pitchFamily="18" charset="0"/>
                <a:ea typeface="Consolas" pitchFamily="34" charset="-122"/>
                <a:cs typeface="Times New Roman" pitchFamily="18" charset="0"/>
              </a:rPr>
              <a:t>=1+2</a:t>
            </a:r>
            <a:r>
              <a:rPr lang="en-US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kiritilsa, natija 3 bo'ladi.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919788" y="5086350"/>
            <a:ext cx="2346325" cy="231775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50" b="1" dirty="0">
                <a:solidFill>
                  <a:srgbClr val="7030A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3.1-3.5-MASHG'ULOTLAR</a:t>
            </a:r>
            <a:endParaRPr lang="en-US" sz="1450" dirty="0">
              <a:solidFill>
                <a:srgbClr val="7030A0"/>
              </a:solidFill>
              <a:latin typeface="+mn-lt"/>
              <a:cs typeface="+mn-cs"/>
            </a:endParaRPr>
          </a:p>
        </p:txBody>
      </p:sp>
      <p:sp>
        <p:nvSpPr>
          <p:cNvPr id="34827" name="Text 21"/>
          <p:cNvSpPr>
            <a:spLocks noChangeArrowheads="1"/>
          </p:cNvSpPr>
          <p:nvPr/>
        </p:nvSpPr>
        <p:spPr bwMode="auto">
          <a:xfrm>
            <a:off x="5919788" y="5413375"/>
            <a:ext cx="6497637" cy="19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1500"/>
              </a:lnSpc>
            </a:pPr>
            <a:r>
              <a:rPr lang="en-US" sz="1600">
                <a:latin typeface="Roboto Condensed" charset="0"/>
              </a:rPr>
              <a:t>Yangi </a:t>
            </a:r>
            <a:r>
              <a:rPr lang="en-US" sz="1600"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1600">
                <a:latin typeface="Roboto Condensed" charset="0"/>
              </a:rPr>
              <a:t> jadval yarating va quyidagi formulalarni kiriting:</a:t>
            </a:r>
            <a:endParaRPr lang="en-US" sz="1600"/>
          </a:p>
        </p:txBody>
      </p:sp>
      <p:sp>
        <p:nvSpPr>
          <p:cNvPr id="25" name="Text 22"/>
          <p:cNvSpPr/>
          <p:nvPr/>
        </p:nvSpPr>
        <p:spPr>
          <a:xfrm>
            <a:off x="5920502" y="5694997"/>
            <a:ext cx="6496526" cy="232912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ü"/>
              <a:defRPr/>
            </a:pPr>
            <a:r>
              <a:rPr lang="en-US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A1: </a:t>
            </a:r>
            <a:r>
              <a:rPr lang="en-US" dirty="0">
                <a:highlight>
                  <a:srgbClr val="DBDBD6"/>
                </a:highlight>
                <a:latin typeface="Times New Roman" pitchFamily="18" charset="0"/>
                <a:ea typeface="Consolas" pitchFamily="34" charset="-122"/>
                <a:cs typeface="Times New Roman" pitchFamily="18" charset="0"/>
              </a:rPr>
              <a:t>=2+5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ü"/>
              <a:defRPr/>
            </a:pPr>
            <a:r>
              <a:rPr lang="en-US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B1: </a:t>
            </a:r>
            <a:r>
              <a:rPr lang="en-US" dirty="0">
                <a:highlight>
                  <a:srgbClr val="DBDBD6"/>
                </a:highlight>
                <a:latin typeface="Times New Roman" pitchFamily="18" charset="0"/>
                <a:ea typeface="Consolas" pitchFamily="34" charset="-122"/>
                <a:cs typeface="Times New Roman" pitchFamily="18" charset="0"/>
              </a:rPr>
              <a:t>=5-2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ü"/>
              <a:defRPr/>
            </a:pPr>
            <a:r>
              <a:rPr lang="en-US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C1: </a:t>
            </a:r>
            <a:r>
              <a:rPr lang="en-US" dirty="0">
                <a:highlight>
                  <a:srgbClr val="DBDBD6"/>
                </a:highlight>
                <a:latin typeface="Times New Roman" pitchFamily="18" charset="0"/>
                <a:ea typeface="Consolas" pitchFamily="34" charset="-122"/>
                <a:cs typeface="Times New Roman" pitchFamily="18" charset="0"/>
              </a:rPr>
              <a:t>=10/2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ü"/>
              <a:defRPr/>
            </a:pPr>
            <a:r>
              <a:rPr lang="en-US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D1: </a:t>
            </a:r>
            <a:r>
              <a:rPr lang="en-US" dirty="0">
                <a:highlight>
                  <a:srgbClr val="DBDBD6"/>
                </a:highlight>
                <a:latin typeface="Times New Roman" pitchFamily="18" charset="0"/>
                <a:ea typeface="Consolas" pitchFamily="34" charset="-122"/>
                <a:cs typeface="Times New Roman" pitchFamily="18" charset="0"/>
              </a:rPr>
              <a:t>=10*2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ü"/>
              <a:defRPr/>
            </a:pPr>
            <a:r>
              <a:rPr lang="en-US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A2: 2 va 3 ni qo'shish.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ü"/>
              <a:defRPr/>
            </a:pPr>
            <a:r>
              <a:rPr lang="en-US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B2: 10 dan 4 ni ayirish.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ü"/>
              <a:defRPr/>
            </a:pPr>
            <a:r>
              <a:rPr lang="en-US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C2: 12 ni 4 ga bo'lish.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SzPct val="100000"/>
              <a:buFont typeface="Wingdings" pitchFamily="2" charset="2"/>
              <a:buChar char="ü"/>
              <a:defRPr/>
            </a:pPr>
            <a:r>
              <a:rPr lang="en-US" dirty="0"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D2: 3 ni 8 ga ko'paytirish.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4829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86513" y="1751013"/>
            <a:ext cx="7094537" cy="195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338138"/>
            <a:ext cx="6843712" cy="7690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39251" y="892399"/>
            <a:ext cx="4305300" cy="677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вердый переплет">
  <a:themeElements>
    <a:clrScheme name="Твердый переплет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Твердый переплет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Твердый переплет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Твердый переплет">
    <a:dk1>
      <a:sysClr val="windowText" lastClr="000000"/>
    </a:dk1>
    <a:lt1>
      <a:sysClr val="window" lastClr="FFFFFF"/>
    </a:lt1>
    <a:dk2>
      <a:srgbClr val="895D1D"/>
    </a:dk2>
    <a:lt2>
      <a:srgbClr val="ECE9C6"/>
    </a:lt2>
    <a:accent1>
      <a:srgbClr val="873624"/>
    </a:accent1>
    <a:accent2>
      <a:srgbClr val="D6862D"/>
    </a:accent2>
    <a:accent3>
      <a:srgbClr val="D0BE40"/>
    </a:accent3>
    <a:accent4>
      <a:srgbClr val="877F6C"/>
    </a:accent4>
    <a:accent5>
      <a:srgbClr val="972109"/>
    </a:accent5>
    <a:accent6>
      <a:srgbClr val="AEB795"/>
    </a:accent6>
    <a:hlink>
      <a:srgbClr val="CC9900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203</TotalTime>
  <Words>584</Words>
  <Application>Microsoft Office PowerPoint</Application>
  <PresentationFormat>Произвольный</PresentationFormat>
  <Paragraphs>100</Paragraphs>
  <Slides>13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3" baseType="lpstr">
      <vt:lpstr>Arial</vt:lpstr>
      <vt:lpstr>Times New Roman</vt:lpstr>
      <vt:lpstr>Wingdings</vt:lpstr>
      <vt:lpstr>Arial Black</vt:lpstr>
      <vt:lpstr>Hubot Sans Bold</vt:lpstr>
      <vt:lpstr>Book Antiqua</vt:lpstr>
      <vt:lpstr>Roboto Condensed</vt:lpstr>
      <vt:lpstr>Consolas</vt:lpstr>
      <vt:lpstr>Calibri</vt:lpstr>
      <vt:lpstr>Твердый переплет</vt:lpstr>
      <vt:lpstr>6-sinf  Informatika va axborot texnologiyalari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2.3-MASHG'ULOT</vt:lpstr>
      <vt:lpstr>Слайд 12</vt:lpstr>
      <vt:lpstr>Слайд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23</cp:revision>
  <dcterms:created xsi:type="dcterms:W3CDTF">2026-01-30T16:02:42Z</dcterms:created>
  <dcterms:modified xsi:type="dcterms:W3CDTF">2026-02-17T12:27:25Z</dcterms:modified>
</cp:coreProperties>
</file>